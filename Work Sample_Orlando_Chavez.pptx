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41C5BAB5-1C07-46F2-914B-CF0528DBC06F}" type="datetimeFigureOut">
              <a:rPr lang="es-MX" smtClean="0"/>
              <a:t>02/08/2026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82116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41C5BAB5-1C07-46F2-914B-CF0528DBC06F}" type="datetimeFigureOut">
              <a:rPr lang="es-MX" smtClean="0"/>
              <a:t>02/08/2026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192513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41C5BAB5-1C07-46F2-914B-CF0528DBC06F}" type="datetimeFigureOut">
              <a:rPr lang="es-MX" smtClean="0"/>
              <a:t>02/08/2026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3879350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41C5BAB5-1C07-46F2-914B-CF0528DBC06F}" type="datetimeFigureOut">
              <a:rPr lang="es-MX" smtClean="0"/>
              <a:t>02/08/2026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1717389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41C5BAB5-1C07-46F2-914B-CF0528DBC06F}" type="datetimeFigureOut">
              <a:rPr lang="es-MX" smtClean="0"/>
              <a:t>02/08/2026</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2483917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41C5BAB5-1C07-46F2-914B-CF0528DBC06F}" type="datetimeFigureOut">
              <a:rPr lang="es-MX" smtClean="0"/>
              <a:t>02/08/2026</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3343923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1C5BAB5-1C07-46F2-914B-CF0528DBC06F}" type="datetimeFigureOut">
              <a:rPr lang="es-MX" smtClean="0"/>
              <a:t>02/08/2026</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546219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41C5BAB5-1C07-46F2-914B-CF0528DBC06F}" type="datetimeFigureOut">
              <a:rPr lang="es-MX" smtClean="0"/>
              <a:t>02/08/2026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1383658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41C5BAB5-1C07-46F2-914B-CF0528DBC06F}" type="datetimeFigureOut">
              <a:rPr lang="es-MX" smtClean="0"/>
              <a:t>02/08/2026</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237304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41C5BAB5-1C07-46F2-914B-CF0528DBC06F}" type="datetimeFigureOut">
              <a:rPr lang="es-MX" smtClean="0"/>
              <a:t>02/08/2026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226201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41C5BAB5-1C07-46F2-914B-CF0528DBC06F}" type="datetimeFigureOut">
              <a:rPr lang="es-MX" smtClean="0"/>
              <a:t>02/08/2026</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215EC420-557F-4401-AC83-95868E2139E0}" type="slidenum">
              <a:rPr lang="es-MX" smtClean="0"/>
              <a:t>‹Nº›</a:t>
            </a:fld>
            <a:endParaRPr lang="es-MX"/>
          </a:p>
        </p:txBody>
      </p:sp>
    </p:spTree>
    <p:extLst>
      <p:ext uri="{BB962C8B-B14F-4D97-AF65-F5344CB8AC3E}">
        <p14:creationId xmlns:p14="http://schemas.microsoft.com/office/powerpoint/2010/main" val="2323894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C5BAB5-1C07-46F2-914B-CF0528DBC06F}" type="datetimeFigureOut">
              <a:rPr lang="es-MX" smtClean="0"/>
              <a:t>02/08/2026</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5EC420-557F-4401-AC83-95868E2139E0}" type="slidenum">
              <a:rPr lang="es-MX" smtClean="0"/>
              <a:t>‹Nº›</a:t>
            </a:fld>
            <a:endParaRPr lang="es-MX"/>
          </a:p>
        </p:txBody>
      </p:sp>
    </p:spTree>
    <p:extLst>
      <p:ext uri="{BB962C8B-B14F-4D97-AF65-F5344CB8AC3E}">
        <p14:creationId xmlns:p14="http://schemas.microsoft.com/office/powerpoint/2010/main" val="1716521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MX" dirty="0" err="1" smtClean="0"/>
              <a:t>Work</a:t>
            </a:r>
            <a:r>
              <a:rPr lang="es-MX" dirty="0" smtClean="0"/>
              <a:t> </a:t>
            </a:r>
            <a:r>
              <a:rPr lang="es-MX" dirty="0" err="1" smtClean="0"/>
              <a:t>Sample</a:t>
            </a:r>
            <a:endParaRPr lang="es-MX" dirty="0"/>
          </a:p>
        </p:txBody>
      </p:sp>
      <p:sp>
        <p:nvSpPr>
          <p:cNvPr id="3" name="Subtítulo 2"/>
          <p:cNvSpPr>
            <a:spLocks noGrp="1"/>
          </p:cNvSpPr>
          <p:nvPr>
            <p:ph type="subTitle" idx="1"/>
          </p:nvPr>
        </p:nvSpPr>
        <p:spPr/>
        <p:txBody>
          <a:bodyPr>
            <a:normAutofit lnSpcReduction="10000"/>
          </a:bodyPr>
          <a:lstStyle/>
          <a:p>
            <a:r>
              <a:rPr lang="es-MX" dirty="0" smtClean="0"/>
              <a:t>Análisis de </a:t>
            </a:r>
            <a:r>
              <a:rPr lang="es-MX" dirty="0" err="1" smtClean="0"/>
              <a:t>Headcount</a:t>
            </a:r>
            <a:r>
              <a:rPr lang="es-MX" dirty="0" smtClean="0"/>
              <a:t> (HC) </a:t>
            </a:r>
          </a:p>
          <a:p>
            <a:endParaRPr lang="es-MX" dirty="0"/>
          </a:p>
          <a:p>
            <a:endParaRPr lang="es-MX" dirty="0" smtClean="0"/>
          </a:p>
          <a:p>
            <a:r>
              <a:rPr lang="es-MX" dirty="0" smtClean="0"/>
              <a:t>Orlando Javier Chavez Gabriel</a:t>
            </a:r>
            <a:endParaRPr lang="es-MX" dirty="0"/>
          </a:p>
        </p:txBody>
      </p:sp>
    </p:spTree>
    <p:extLst>
      <p:ext uri="{BB962C8B-B14F-4D97-AF65-F5344CB8AC3E}">
        <p14:creationId xmlns:p14="http://schemas.microsoft.com/office/powerpoint/2010/main" val="1999079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8158" y="387228"/>
            <a:ext cx="10515600" cy="610821"/>
          </a:xfrm>
        </p:spPr>
        <p:txBody>
          <a:bodyPr vert="horz" lIns="91440" tIns="45720" rIns="91440" bIns="45720" rtlCol="0" anchor="ctr">
            <a:normAutofit/>
          </a:bodyPr>
          <a:lstStyle/>
          <a:p>
            <a:r>
              <a:rPr lang="es-MX" sz="3200" b="1" dirty="0"/>
              <a:t>1. Dimensionamiento del HC – </a:t>
            </a:r>
            <a:r>
              <a:rPr lang="es-MX" sz="3200" b="1" dirty="0" err="1"/>
              <a:t>Inbound</a:t>
            </a:r>
            <a:endParaRPr lang="es-MX" sz="3200" dirty="0"/>
          </a:p>
        </p:txBody>
      </p:sp>
      <p:graphicFrame>
        <p:nvGraphicFramePr>
          <p:cNvPr id="24" name="Tabla 23"/>
          <p:cNvGraphicFramePr>
            <a:graphicFrameLocks noGrp="1"/>
          </p:cNvGraphicFramePr>
          <p:nvPr>
            <p:extLst>
              <p:ext uri="{D42A27DB-BD31-4B8C-83A1-F6EECF244321}">
                <p14:modId xmlns:p14="http://schemas.microsoft.com/office/powerpoint/2010/main" val="3873206414"/>
              </p:ext>
            </p:extLst>
          </p:nvPr>
        </p:nvGraphicFramePr>
        <p:xfrm>
          <a:off x="518158" y="1229996"/>
          <a:ext cx="11155683" cy="4705983"/>
        </p:xfrm>
        <a:graphic>
          <a:graphicData uri="http://schemas.openxmlformats.org/drawingml/2006/table">
            <a:tbl>
              <a:tblPr>
                <a:tableStyleId>{5C22544A-7EE6-4342-B048-85BDC9FD1C3A}</a:tableStyleId>
              </a:tblPr>
              <a:tblGrid>
                <a:gridCol w="543266">
                  <a:extLst>
                    <a:ext uri="{9D8B030D-6E8A-4147-A177-3AD203B41FA5}">
                      <a16:colId xmlns:a16="http://schemas.microsoft.com/office/drawing/2014/main" val="2837661054"/>
                    </a:ext>
                  </a:extLst>
                </a:gridCol>
                <a:gridCol w="449600">
                  <a:extLst>
                    <a:ext uri="{9D8B030D-6E8A-4147-A177-3AD203B41FA5}">
                      <a16:colId xmlns:a16="http://schemas.microsoft.com/office/drawing/2014/main" val="731636774"/>
                    </a:ext>
                  </a:extLst>
                </a:gridCol>
                <a:gridCol w="833632">
                  <a:extLst>
                    <a:ext uri="{9D8B030D-6E8A-4147-A177-3AD203B41FA5}">
                      <a16:colId xmlns:a16="http://schemas.microsoft.com/office/drawing/2014/main" val="1118954547"/>
                    </a:ext>
                  </a:extLst>
                </a:gridCol>
                <a:gridCol w="1058432">
                  <a:extLst>
                    <a:ext uri="{9D8B030D-6E8A-4147-A177-3AD203B41FA5}">
                      <a16:colId xmlns:a16="http://schemas.microsoft.com/office/drawing/2014/main" val="4217873286"/>
                    </a:ext>
                  </a:extLst>
                </a:gridCol>
                <a:gridCol w="1161465">
                  <a:extLst>
                    <a:ext uri="{9D8B030D-6E8A-4147-A177-3AD203B41FA5}">
                      <a16:colId xmlns:a16="http://schemas.microsoft.com/office/drawing/2014/main" val="2350369273"/>
                    </a:ext>
                  </a:extLst>
                </a:gridCol>
                <a:gridCol w="1414365">
                  <a:extLst>
                    <a:ext uri="{9D8B030D-6E8A-4147-A177-3AD203B41FA5}">
                      <a16:colId xmlns:a16="http://schemas.microsoft.com/office/drawing/2014/main" val="202674360"/>
                    </a:ext>
                  </a:extLst>
                </a:gridCol>
                <a:gridCol w="1170831">
                  <a:extLst>
                    <a:ext uri="{9D8B030D-6E8A-4147-A177-3AD203B41FA5}">
                      <a16:colId xmlns:a16="http://schemas.microsoft.com/office/drawing/2014/main" val="808269304"/>
                    </a:ext>
                  </a:extLst>
                </a:gridCol>
                <a:gridCol w="1189565">
                  <a:extLst>
                    <a:ext uri="{9D8B030D-6E8A-4147-A177-3AD203B41FA5}">
                      <a16:colId xmlns:a16="http://schemas.microsoft.com/office/drawing/2014/main" val="2003118522"/>
                    </a:ext>
                  </a:extLst>
                </a:gridCol>
                <a:gridCol w="1133364">
                  <a:extLst>
                    <a:ext uri="{9D8B030D-6E8A-4147-A177-3AD203B41FA5}">
                      <a16:colId xmlns:a16="http://schemas.microsoft.com/office/drawing/2014/main" val="1366296562"/>
                    </a:ext>
                  </a:extLst>
                </a:gridCol>
                <a:gridCol w="1198931">
                  <a:extLst>
                    <a:ext uri="{9D8B030D-6E8A-4147-A177-3AD203B41FA5}">
                      <a16:colId xmlns:a16="http://schemas.microsoft.com/office/drawing/2014/main" val="2913496071"/>
                    </a:ext>
                  </a:extLst>
                </a:gridCol>
                <a:gridCol w="1002232">
                  <a:extLst>
                    <a:ext uri="{9D8B030D-6E8A-4147-A177-3AD203B41FA5}">
                      <a16:colId xmlns:a16="http://schemas.microsoft.com/office/drawing/2014/main" val="30972863"/>
                    </a:ext>
                  </a:extLst>
                </a:gridCol>
              </a:tblGrid>
              <a:tr h="509943">
                <a:tc>
                  <a:txBody>
                    <a:bodyPr/>
                    <a:lstStyle/>
                    <a:p>
                      <a:pPr algn="l" fontAlgn="b"/>
                      <a:r>
                        <a:rPr lang="es-MX" sz="800" u="none" strike="noStrike">
                          <a:effectLst/>
                        </a:rPr>
                        <a:t>Día</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Hora</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Volumen Paquetes (Base)</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Volumen Paquetes (Sobreventa)</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HC Demanda Sobreventa (Descarga)</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dirty="0">
                          <a:effectLst/>
                        </a:rPr>
                        <a:t>HC Oferta Fija Sobreventa (Descarga)</a:t>
                      </a:r>
                      <a:endParaRPr lang="es-MX" sz="800" b="1" i="0" u="none" strike="noStrike" dirty="0">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HC Diaristas Sobreventa (Descarga)</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HC Demanda Sobreventa (Conexion_IN)</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ES" sz="800" u="none" strike="noStrike" dirty="0">
                          <a:effectLst/>
                        </a:rPr>
                        <a:t>HC Oferta Fija Sobreventa (</a:t>
                      </a:r>
                      <a:r>
                        <a:rPr lang="es-ES" sz="800" u="none" strike="noStrike" dirty="0" err="1">
                          <a:effectLst/>
                        </a:rPr>
                        <a:t>Conexion_IN</a:t>
                      </a:r>
                      <a:r>
                        <a:rPr lang="es-ES" sz="800" u="none" strike="noStrike" dirty="0">
                          <a:effectLst/>
                        </a:rPr>
                        <a:t>)</a:t>
                      </a:r>
                      <a:endParaRPr lang="es-ES" sz="800" b="1" i="0" u="none" strike="noStrike" dirty="0">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HC Diaristas Sobreventa (Conexion_IN)</a:t>
                      </a:r>
                      <a:endParaRPr lang="es-MX" sz="800" b="1" i="0" u="none" strike="noStrike">
                        <a:solidFill>
                          <a:srgbClr val="FFFFFF"/>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Prod Ponderada Macro (Sobreventa)</a:t>
                      </a:r>
                      <a:endParaRPr lang="es-MX" sz="800" b="1" i="0" u="none" strike="noStrike">
                        <a:solidFill>
                          <a:srgbClr val="FFFFFF"/>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294462013"/>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00:00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33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5</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14.78</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455283533"/>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01:00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14.73</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1067470896"/>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02:00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03417817"/>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03:00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17</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27</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14.57</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55069349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04:00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15</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14.61</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819035325"/>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05:00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5674956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06:00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1389758832"/>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07:00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902024343"/>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08:00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980350384"/>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09:00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4294338166"/>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10:00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19386956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11:00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737548015"/>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12:00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116172993"/>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13:00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15</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15</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14.84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1175309257"/>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14:00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511795205"/>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15:00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825274458"/>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16:00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46061810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17:00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15</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14.61</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4043288126"/>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18:00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14.66</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1935950197"/>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19:00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11</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14.73</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153922083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20:00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210058854"/>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21:00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29</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259592585"/>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22:00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3</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37</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14.24</a:t>
                      </a:r>
                      <a:endParaRPr lang="es-MX" sz="800" b="0" i="0" u="none" strike="noStrike">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3305129269"/>
                  </a:ext>
                </a:extLst>
              </a:tr>
              <a:tr h="174835">
                <a:tc>
                  <a:txBody>
                    <a:bodyPr/>
                    <a:lstStyle/>
                    <a:p>
                      <a:pPr algn="l" fontAlgn="b"/>
                      <a:r>
                        <a:rPr lang="es-MX" sz="800" u="none" strike="noStrike">
                          <a:effectLst/>
                        </a:rPr>
                        <a:t>miércoles</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l" fontAlgn="b"/>
                      <a:r>
                        <a:rPr lang="es-MX" sz="800" u="none" strike="noStrike">
                          <a:effectLst/>
                        </a:rPr>
                        <a:t>23:00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249874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284856.36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4</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18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6</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28</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a:effectLst/>
                        </a:rPr>
                        <a:t>0</a:t>
                      </a:r>
                      <a:endParaRPr lang="es-MX" sz="800" b="0" i="0" u="none" strike="noStrike">
                        <a:solidFill>
                          <a:srgbClr val="000000"/>
                        </a:solidFill>
                        <a:effectLst/>
                        <a:latin typeface="Calibri" panose="020F0502020204030204" pitchFamily="34" charset="0"/>
                      </a:endParaRPr>
                    </a:p>
                  </a:txBody>
                  <a:tcPr marL="5298" marR="5298" marT="5298" marB="0" anchor="b"/>
                </a:tc>
                <a:tc>
                  <a:txBody>
                    <a:bodyPr/>
                    <a:lstStyle/>
                    <a:p>
                      <a:pPr algn="r" fontAlgn="b"/>
                      <a:r>
                        <a:rPr lang="es-MX" sz="800" u="none" strike="noStrike" dirty="0">
                          <a:effectLst/>
                        </a:rPr>
                        <a:t>14.24</a:t>
                      </a:r>
                      <a:endParaRPr lang="es-MX" sz="800" b="0" i="0" u="none" strike="noStrike" dirty="0">
                        <a:solidFill>
                          <a:srgbClr val="000000"/>
                        </a:solidFill>
                        <a:effectLst/>
                        <a:latin typeface="Calibri" panose="020F0502020204030204" pitchFamily="34" charset="0"/>
                      </a:endParaRPr>
                    </a:p>
                  </a:txBody>
                  <a:tcPr marL="5298" marR="5298" marT="5298" marB="0" anchor="b"/>
                </a:tc>
                <a:extLst>
                  <a:ext uri="{0D108BD9-81ED-4DB2-BD59-A6C34878D82A}">
                    <a16:rowId xmlns:a16="http://schemas.microsoft.com/office/drawing/2014/main" val="90009015"/>
                  </a:ext>
                </a:extLst>
              </a:tr>
            </a:tbl>
          </a:graphicData>
        </a:graphic>
      </p:graphicFrame>
    </p:spTree>
    <p:extLst>
      <p:ext uri="{BB962C8B-B14F-4D97-AF65-F5344CB8AC3E}">
        <p14:creationId xmlns:p14="http://schemas.microsoft.com/office/powerpoint/2010/main" val="1416205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708" y="586507"/>
            <a:ext cx="9038103" cy="5364945"/>
          </a:xfrm>
          <a:prstGeom prst="rect">
            <a:avLst/>
          </a:prstGeom>
        </p:spPr>
      </p:pic>
    </p:spTree>
    <p:extLst>
      <p:ext uri="{BB962C8B-B14F-4D97-AF65-F5344CB8AC3E}">
        <p14:creationId xmlns:p14="http://schemas.microsoft.com/office/powerpoint/2010/main" val="3864952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365125"/>
            <a:ext cx="10515600" cy="686435"/>
          </a:xfrm>
        </p:spPr>
        <p:txBody>
          <a:bodyPr>
            <a:normAutofit fontScale="90000"/>
          </a:bodyPr>
          <a:lstStyle/>
          <a:p>
            <a:r>
              <a:rPr lang="es-MX" b="1" dirty="0"/>
              <a:t>2. </a:t>
            </a:r>
            <a:r>
              <a:rPr lang="es-MX" sz="3600" b="1" dirty="0"/>
              <a:t>Dimensionamiento</a:t>
            </a:r>
            <a:r>
              <a:rPr lang="es-MX" b="1" dirty="0"/>
              <a:t> del HC – </a:t>
            </a:r>
            <a:r>
              <a:rPr lang="es-MX" b="1" dirty="0" err="1" smtClean="0"/>
              <a:t>Outbound</a:t>
            </a:r>
            <a:endParaRPr lang="es-MX" b="1" dirty="0"/>
          </a:p>
        </p:txBody>
      </p:sp>
      <p:graphicFrame>
        <p:nvGraphicFramePr>
          <p:cNvPr id="4" name="Tabla 3"/>
          <p:cNvGraphicFramePr>
            <a:graphicFrameLocks noGrp="1"/>
          </p:cNvGraphicFramePr>
          <p:nvPr>
            <p:extLst>
              <p:ext uri="{D42A27DB-BD31-4B8C-83A1-F6EECF244321}">
                <p14:modId xmlns:p14="http://schemas.microsoft.com/office/powerpoint/2010/main" val="2390119763"/>
              </p:ext>
            </p:extLst>
          </p:nvPr>
        </p:nvGraphicFramePr>
        <p:xfrm>
          <a:off x="518160" y="1264910"/>
          <a:ext cx="11064240" cy="5212101"/>
        </p:xfrm>
        <a:graphic>
          <a:graphicData uri="http://schemas.openxmlformats.org/drawingml/2006/table">
            <a:tbl>
              <a:tblPr>
                <a:tableStyleId>{5C22544A-7EE6-4342-B048-85BDC9FD1C3A}</a:tableStyleId>
              </a:tblPr>
              <a:tblGrid>
                <a:gridCol w="422837">
                  <a:extLst>
                    <a:ext uri="{9D8B030D-6E8A-4147-A177-3AD203B41FA5}">
                      <a16:colId xmlns:a16="http://schemas.microsoft.com/office/drawing/2014/main" val="3171216683"/>
                    </a:ext>
                  </a:extLst>
                </a:gridCol>
                <a:gridCol w="422837">
                  <a:extLst>
                    <a:ext uri="{9D8B030D-6E8A-4147-A177-3AD203B41FA5}">
                      <a16:colId xmlns:a16="http://schemas.microsoft.com/office/drawing/2014/main" val="631887200"/>
                    </a:ext>
                  </a:extLst>
                </a:gridCol>
                <a:gridCol w="784011">
                  <a:extLst>
                    <a:ext uri="{9D8B030D-6E8A-4147-A177-3AD203B41FA5}">
                      <a16:colId xmlns:a16="http://schemas.microsoft.com/office/drawing/2014/main" val="1202382382"/>
                    </a:ext>
                  </a:extLst>
                </a:gridCol>
                <a:gridCol w="1127566">
                  <a:extLst>
                    <a:ext uri="{9D8B030D-6E8A-4147-A177-3AD203B41FA5}">
                      <a16:colId xmlns:a16="http://schemas.microsoft.com/office/drawing/2014/main" val="85211271"/>
                    </a:ext>
                  </a:extLst>
                </a:gridCol>
                <a:gridCol w="1259703">
                  <a:extLst>
                    <a:ext uri="{9D8B030D-6E8A-4147-A177-3AD203B41FA5}">
                      <a16:colId xmlns:a16="http://schemas.microsoft.com/office/drawing/2014/main" val="4083463559"/>
                    </a:ext>
                  </a:extLst>
                </a:gridCol>
                <a:gridCol w="1180420">
                  <a:extLst>
                    <a:ext uri="{9D8B030D-6E8A-4147-A177-3AD203B41FA5}">
                      <a16:colId xmlns:a16="http://schemas.microsoft.com/office/drawing/2014/main" val="3332454317"/>
                    </a:ext>
                  </a:extLst>
                </a:gridCol>
                <a:gridCol w="1321366">
                  <a:extLst>
                    <a:ext uri="{9D8B030D-6E8A-4147-A177-3AD203B41FA5}">
                      <a16:colId xmlns:a16="http://schemas.microsoft.com/office/drawing/2014/main" val="3837242819"/>
                    </a:ext>
                  </a:extLst>
                </a:gridCol>
                <a:gridCol w="1391839">
                  <a:extLst>
                    <a:ext uri="{9D8B030D-6E8A-4147-A177-3AD203B41FA5}">
                      <a16:colId xmlns:a16="http://schemas.microsoft.com/office/drawing/2014/main" val="2748113128"/>
                    </a:ext>
                  </a:extLst>
                </a:gridCol>
                <a:gridCol w="810438">
                  <a:extLst>
                    <a:ext uri="{9D8B030D-6E8A-4147-A177-3AD203B41FA5}">
                      <a16:colId xmlns:a16="http://schemas.microsoft.com/office/drawing/2014/main" val="3818755135"/>
                    </a:ext>
                  </a:extLst>
                </a:gridCol>
                <a:gridCol w="1330175">
                  <a:extLst>
                    <a:ext uri="{9D8B030D-6E8A-4147-A177-3AD203B41FA5}">
                      <a16:colId xmlns:a16="http://schemas.microsoft.com/office/drawing/2014/main" val="479857062"/>
                    </a:ext>
                  </a:extLst>
                </a:gridCol>
                <a:gridCol w="1013048">
                  <a:extLst>
                    <a:ext uri="{9D8B030D-6E8A-4147-A177-3AD203B41FA5}">
                      <a16:colId xmlns:a16="http://schemas.microsoft.com/office/drawing/2014/main" val="4132135187"/>
                    </a:ext>
                  </a:extLst>
                </a:gridCol>
              </a:tblGrid>
              <a:tr h="543093">
                <a:tc>
                  <a:txBody>
                    <a:bodyPr/>
                    <a:lstStyle/>
                    <a:p>
                      <a:pPr algn="l" fontAlgn="b"/>
                      <a:r>
                        <a:rPr lang="es-MX" sz="700" u="none" strike="noStrike">
                          <a:effectLst/>
                        </a:rPr>
                        <a:t>Día</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Hora</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Volumen Paquetes (Base)</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Volumen Paquetes (Sobreventa)</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HC Demanda Sobreventa (Conexion_OUT)</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ES" sz="700" u="none" strike="noStrike">
                          <a:effectLst/>
                        </a:rPr>
                        <a:t>HC Oferta Fija Sobreventa (Conexion_OUT)</a:t>
                      </a:r>
                      <a:endParaRPr lang="es-ES"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HC Diaristas Sobreventa (Conexion_OUT)</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HC Demanda Sobreventa (Despachadores)</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HC Oferta Fija Sobreventa (Despachadores)</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HC Diaristas Sobreventa (Despachadores)</a:t>
                      </a:r>
                      <a:endParaRPr lang="es-MX" sz="700" b="1" i="0" u="none" strike="noStrike">
                        <a:solidFill>
                          <a:srgbClr val="FFFFFF"/>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Prod Ponderada Macro (Sobreventa)</a:t>
                      </a:r>
                      <a:endParaRPr lang="es-MX" sz="700" b="1" i="0" u="none" strike="noStrike">
                        <a:solidFill>
                          <a:srgbClr val="FFFFFF"/>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045659801"/>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00:00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16.76</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525959978"/>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01:00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21</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16.62</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80026760"/>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02:00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14.24</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563976294"/>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03:00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16.43</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467636846"/>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04:00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16.43</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4090992718"/>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05:00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287411593"/>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06:00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14.24</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2548154848"/>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07:00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414994264"/>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08:00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721997456"/>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09:00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15.82</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2437762035"/>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10:00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14.24</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762272318"/>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11:00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15.82</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671684889"/>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12:00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735266828"/>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13:00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7</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14.24</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228564614"/>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14:00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11</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515660414"/>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15:00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11</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14.24</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2647602939"/>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16:00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15.82</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4206504465"/>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17:00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16.76</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716041549"/>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18:00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21</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16.62</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4101580342"/>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19:00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33</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16.67</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311970635"/>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20:00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16.76</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454594933"/>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21:00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18</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16.96</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744994122"/>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22:00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30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42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12</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16.96</a:t>
                      </a:r>
                      <a:endParaRPr lang="es-MX" sz="700" b="0" i="0" u="none" strike="noStrike">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3898222507"/>
                  </a:ext>
                </a:extLst>
              </a:tr>
              <a:tr h="194542">
                <a:tc>
                  <a:txBody>
                    <a:bodyPr/>
                    <a:lstStyle/>
                    <a:p>
                      <a:pPr algn="l" fontAlgn="b"/>
                      <a:r>
                        <a:rPr lang="es-MX" sz="700" u="none" strike="noStrike">
                          <a:effectLst/>
                        </a:rPr>
                        <a:t>miércoles</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l" fontAlgn="b"/>
                      <a:r>
                        <a:rPr lang="es-MX" sz="700" u="none" strike="noStrike">
                          <a:effectLst/>
                        </a:rPr>
                        <a:t>23:00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249874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284856.36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15</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29</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6</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14</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a:effectLst/>
                        </a:rPr>
                        <a:t>0</a:t>
                      </a:r>
                      <a:endParaRPr lang="es-MX" sz="700" b="0" i="0" u="none" strike="noStrike">
                        <a:solidFill>
                          <a:srgbClr val="000000"/>
                        </a:solidFill>
                        <a:effectLst/>
                        <a:latin typeface="Calibri" panose="020F0502020204030204" pitchFamily="34" charset="0"/>
                      </a:endParaRPr>
                    </a:p>
                  </a:txBody>
                  <a:tcPr marL="5023" marR="5023" marT="5023" marB="0" anchor="b"/>
                </a:tc>
                <a:tc>
                  <a:txBody>
                    <a:bodyPr/>
                    <a:lstStyle/>
                    <a:p>
                      <a:pPr algn="r" fontAlgn="b"/>
                      <a:r>
                        <a:rPr lang="es-MX" sz="700" u="none" strike="noStrike" dirty="0">
                          <a:effectLst/>
                        </a:rPr>
                        <a:t>16.96</a:t>
                      </a:r>
                      <a:endParaRPr lang="es-MX" sz="700" b="0" i="0" u="none" strike="noStrike" dirty="0">
                        <a:solidFill>
                          <a:srgbClr val="000000"/>
                        </a:solidFill>
                        <a:effectLst/>
                        <a:latin typeface="Calibri" panose="020F0502020204030204" pitchFamily="34" charset="0"/>
                      </a:endParaRPr>
                    </a:p>
                  </a:txBody>
                  <a:tcPr marL="5023" marR="5023" marT="5023" marB="0" anchor="b"/>
                </a:tc>
                <a:extLst>
                  <a:ext uri="{0D108BD9-81ED-4DB2-BD59-A6C34878D82A}">
                    <a16:rowId xmlns:a16="http://schemas.microsoft.com/office/drawing/2014/main" val="1690978012"/>
                  </a:ext>
                </a:extLst>
              </a:tr>
            </a:tbl>
          </a:graphicData>
        </a:graphic>
      </p:graphicFrame>
    </p:spTree>
    <p:extLst>
      <p:ext uri="{BB962C8B-B14F-4D97-AF65-F5344CB8AC3E}">
        <p14:creationId xmlns:p14="http://schemas.microsoft.com/office/powerpoint/2010/main" val="338736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651269"/>
            <a:ext cx="8275319" cy="5555461"/>
          </a:xfrm>
          <a:prstGeom prst="rect">
            <a:avLst/>
          </a:prstGeom>
        </p:spPr>
      </p:pic>
      <p:sp>
        <p:nvSpPr>
          <p:cNvPr id="5" name="CuadroTexto 4"/>
          <p:cNvSpPr txBox="1"/>
          <p:nvPr/>
        </p:nvSpPr>
        <p:spPr>
          <a:xfrm>
            <a:off x="9326880" y="762000"/>
            <a:ext cx="2423160" cy="3693319"/>
          </a:xfrm>
          <a:prstGeom prst="rect">
            <a:avLst/>
          </a:prstGeom>
          <a:noFill/>
        </p:spPr>
        <p:txBody>
          <a:bodyPr wrap="square" rtlCol="0">
            <a:spAutoFit/>
          </a:bodyPr>
          <a:lstStyle/>
          <a:p>
            <a:r>
              <a:rPr lang="es-MX" dirty="0" smtClean="0"/>
              <a:t>El turno con mayor demanda se presenta por la tarde-noche en un horario de 3:00 pm a 11:59 pm</a:t>
            </a:r>
          </a:p>
          <a:p>
            <a:endParaRPr lang="es-MX" dirty="0"/>
          </a:p>
          <a:p>
            <a:r>
              <a:rPr lang="es-MX" dirty="0" smtClean="0"/>
              <a:t>Durante la jornada tenemos personal para cubrir la demanda teniendo una caída en de capacidad en cambio de horario a las 11:00 pm</a:t>
            </a:r>
          </a:p>
        </p:txBody>
      </p:sp>
    </p:spTree>
    <p:extLst>
      <p:ext uri="{BB962C8B-B14F-4D97-AF65-F5344CB8AC3E}">
        <p14:creationId xmlns:p14="http://schemas.microsoft.com/office/powerpoint/2010/main" val="243354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3. Dimensionamiento del HC – </a:t>
            </a:r>
            <a:r>
              <a:rPr lang="es-MX" b="1" dirty="0" err="1"/>
              <a:t>Sorting</a:t>
            </a:r>
            <a:r>
              <a:rPr lang="es-MX" dirty="0"/>
              <a:t/>
            </a:r>
            <a:br>
              <a:rPr lang="es-MX" dirty="0"/>
            </a:br>
            <a:endParaRPr lang="es-MX" dirty="0"/>
          </a:p>
        </p:txBody>
      </p:sp>
      <p:graphicFrame>
        <p:nvGraphicFramePr>
          <p:cNvPr id="5" name="Tabla 4"/>
          <p:cNvGraphicFramePr>
            <a:graphicFrameLocks noGrp="1"/>
          </p:cNvGraphicFramePr>
          <p:nvPr>
            <p:extLst>
              <p:ext uri="{D42A27DB-BD31-4B8C-83A1-F6EECF244321}">
                <p14:modId xmlns:p14="http://schemas.microsoft.com/office/powerpoint/2010/main" val="747279414"/>
              </p:ext>
            </p:extLst>
          </p:nvPr>
        </p:nvGraphicFramePr>
        <p:xfrm>
          <a:off x="838199" y="1250950"/>
          <a:ext cx="10393680" cy="5195573"/>
        </p:xfrm>
        <a:graphic>
          <a:graphicData uri="http://schemas.openxmlformats.org/drawingml/2006/table">
            <a:tbl>
              <a:tblPr>
                <a:tableStyleId>{5C22544A-7EE6-4342-B048-85BDC9FD1C3A}</a:tableStyleId>
              </a:tblPr>
              <a:tblGrid>
                <a:gridCol w="664310">
                  <a:extLst>
                    <a:ext uri="{9D8B030D-6E8A-4147-A177-3AD203B41FA5}">
                      <a16:colId xmlns:a16="http://schemas.microsoft.com/office/drawing/2014/main" val="2031502612"/>
                    </a:ext>
                  </a:extLst>
                </a:gridCol>
                <a:gridCol w="664310">
                  <a:extLst>
                    <a:ext uri="{9D8B030D-6E8A-4147-A177-3AD203B41FA5}">
                      <a16:colId xmlns:a16="http://schemas.microsoft.com/office/drawing/2014/main" val="702512966"/>
                    </a:ext>
                  </a:extLst>
                </a:gridCol>
                <a:gridCol w="1563896">
                  <a:extLst>
                    <a:ext uri="{9D8B030D-6E8A-4147-A177-3AD203B41FA5}">
                      <a16:colId xmlns:a16="http://schemas.microsoft.com/office/drawing/2014/main" val="2995961434"/>
                    </a:ext>
                  </a:extLst>
                </a:gridCol>
                <a:gridCol w="1577735">
                  <a:extLst>
                    <a:ext uri="{9D8B030D-6E8A-4147-A177-3AD203B41FA5}">
                      <a16:colId xmlns:a16="http://schemas.microsoft.com/office/drawing/2014/main" val="1747708068"/>
                    </a:ext>
                  </a:extLst>
                </a:gridCol>
                <a:gridCol w="1660775">
                  <a:extLst>
                    <a:ext uri="{9D8B030D-6E8A-4147-A177-3AD203B41FA5}">
                      <a16:colId xmlns:a16="http://schemas.microsoft.com/office/drawing/2014/main" val="2012694028"/>
                    </a:ext>
                  </a:extLst>
                </a:gridCol>
                <a:gridCol w="1300940">
                  <a:extLst>
                    <a:ext uri="{9D8B030D-6E8A-4147-A177-3AD203B41FA5}">
                      <a16:colId xmlns:a16="http://schemas.microsoft.com/office/drawing/2014/main" val="842460063"/>
                    </a:ext>
                  </a:extLst>
                </a:gridCol>
                <a:gridCol w="1273261">
                  <a:extLst>
                    <a:ext uri="{9D8B030D-6E8A-4147-A177-3AD203B41FA5}">
                      <a16:colId xmlns:a16="http://schemas.microsoft.com/office/drawing/2014/main" val="3958067988"/>
                    </a:ext>
                  </a:extLst>
                </a:gridCol>
                <a:gridCol w="1688453">
                  <a:extLst>
                    <a:ext uri="{9D8B030D-6E8A-4147-A177-3AD203B41FA5}">
                      <a16:colId xmlns:a16="http://schemas.microsoft.com/office/drawing/2014/main" val="983143280"/>
                    </a:ext>
                  </a:extLst>
                </a:gridCol>
              </a:tblGrid>
              <a:tr h="646397">
                <a:tc>
                  <a:txBody>
                    <a:bodyPr/>
                    <a:lstStyle/>
                    <a:p>
                      <a:pPr algn="l" fontAlgn="b"/>
                      <a:r>
                        <a:rPr lang="es-MX" sz="1000" u="none" strike="noStrike">
                          <a:effectLst/>
                        </a:rPr>
                        <a:t>Día</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Hora</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Volumen Paquetes (Base)</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Volumen Paquetes (Sobreventa)</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HC Demanda Sobreventa (Sorting)</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HC Oferta Fija Sobreventa (Sorting)</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HC Diaristas Sobreventa (Sorting)</a:t>
                      </a:r>
                      <a:endParaRPr lang="es-MX" sz="1000" b="1" i="0" u="none" strike="noStrike">
                        <a:solidFill>
                          <a:srgbClr val="FFFFFF"/>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Prod Ponderada Macro (Sobreventa)</a:t>
                      </a:r>
                      <a:endParaRPr lang="es-MX" sz="1000" b="1" i="0" u="none" strike="noStrike">
                        <a:solidFill>
                          <a:srgbClr val="FFFFFF"/>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44512796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00:00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0.36</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124587249"/>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01:00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545754683"/>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02:00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577780441"/>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03:00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469816675"/>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15748668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05:00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914306159"/>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06:00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0.36</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75616403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07:00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449838837"/>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08:00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dirty="0">
                          <a:effectLst/>
                        </a:rPr>
                        <a:t>243</a:t>
                      </a:r>
                      <a:endParaRPr lang="es-MX" sz="1000" b="0" i="0" u="none" strike="noStrike" dirty="0">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92669258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09:00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81002345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10:00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175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932397124"/>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11:00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325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70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0.44</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031398296"/>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12:00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341548546"/>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13:00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325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377</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0.44</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200025125"/>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250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529</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4160910068"/>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15:00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529</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0.45</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629123967"/>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16:00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402</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0.53</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67561664"/>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17:00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402</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0.71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392430651"/>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18:00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402</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0.8</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923958385"/>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19:00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641</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0.8</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990799536"/>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20:00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641</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0.98</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2479587726"/>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21:00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641</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0.71</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931485411"/>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22:00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400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643</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0.45</a:t>
                      </a:r>
                      <a:endParaRPr lang="es-MX" sz="1000" b="0" i="0" u="none" strike="noStrike">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640963831"/>
                  </a:ext>
                </a:extLst>
              </a:tr>
              <a:tr h="189549">
                <a:tc>
                  <a:txBody>
                    <a:bodyPr/>
                    <a:lstStyle/>
                    <a:p>
                      <a:pPr algn="l" fontAlgn="b"/>
                      <a:r>
                        <a:rPr lang="es-MX" sz="1000" u="none" strike="noStrike">
                          <a:effectLst/>
                        </a:rPr>
                        <a:t>miércoles</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l" fontAlgn="b"/>
                      <a:r>
                        <a:rPr lang="es-MX" sz="1000" u="none" strike="noStrike">
                          <a:effectLst/>
                        </a:rPr>
                        <a:t>23:00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249874</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284856.36</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375</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a:effectLst/>
                        </a:rPr>
                        <a:t>0</a:t>
                      </a:r>
                      <a:endParaRPr lang="es-MX" sz="1000" b="0" i="0" u="none" strike="noStrike">
                        <a:solidFill>
                          <a:srgbClr val="000000"/>
                        </a:solidFill>
                        <a:effectLst/>
                        <a:latin typeface="Calibri" panose="020F0502020204030204" pitchFamily="34" charset="0"/>
                      </a:endParaRPr>
                    </a:p>
                  </a:txBody>
                  <a:tcPr marL="6613" marR="6613" marT="6613" marB="0" anchor="b"/>
                </a:tc>
                <a:tc>
                  <a:txBody>
                    <a:bodyPr/>
                    <a:lstStyle/>
                    <a:p>
                      <a:pPr algn="r" fontAlgn="b"/>
                      <a:r>
                        <a:rPr lang="es-MX" sz="1000" u="none" strike="noStrike" dirty="0">
                          <a:effectLst/>
                        </a:rPr>
                        <a:t>0</a:t>
                      </a:r>
                      <a:endParaRPr lang="es-MX" sz="1000" b="0" i="0" u="none" strike="noStrike" dirty="0">
                        <a:solidFill>
                          <a:srgbClr val="000000"/>
                        </a:solidFill>
                        <a:effectLst/>
                        <a:latin typeface="Calibri" panose="020F0502020204030204" pitchFamily="34" charset="0"/>
                      </a:endParaRPr>
                    </a:p>
                  </a:txBody>
                  <a:tcPr marL="6613" marR="6613" marT="6613" marB="0" anchor="b"/>
                </a:tc>
                <a:extLst>
                  <a:ext uri="{0D108BD9-81ED-4DB2-BD59-A6C34878D82A}">
                    <a16:rowId xmlns:a16="http://schemas.microsoft.com/office/drawing/2014/main" val="1997739928"/>
                  </a:ext>
                </a:extLst>
              </a:tr>
            </a:tbl>
          </a:graphicData>
        </a:graphic>
      </p:graphicFrame>
    </p:spTree>
    <p:extLst>
      <p:ext uri="{BB962C8B-B14F-4D97-AF65-F5344CB8AC3E}">
        <p14:creationId xmlns:p14="http://schemas.microsoft.com/office/powerpoint/2010/main" val="2563260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998" y="975360"/>
            <a:ext cx="10947009" cy="4991295"/>
          </a:xfrm>
          <a:prstGeom prst="rect">
            <a:avLst/>
          </a:prstGeom>
        </p:spPr>
      </p:pic>
    </p:spTree>
    <p:extLst>
      <p:ext uri="{BB962C8B-B14F-4D97-AF65-F5344CB8AC3E}">
        <p14:creationId xmlns:p14="http://schemas.microsoft.com/office/powerpoint/2010/main" val="3115166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4. </a:t>
            </a:r>
            <a:r>
              <a:rPr lang="es-MX" b="1" dirty="0" smtClean="0"/>
              <a:t>Decisión </a:t>
            </a:r>
            <a:r>
              <a:rPr lang="es-MX" b="1" dirty="0"/>
              <a:t>sobre Diaristas (Maniobras)</a:t>
            </a:r>
            <a:endParaRPr lang="es-MX" dirty="0"/>
          </a:p>
        </p:txBody>
      </p:sp>
      <p:sp>
        <p:nvSpPr>
          <p:cNvPr id="3" name="Marcador de contenido 2"/>
          <p:cNvSpPr>
            <a:spLocks noGrp="1"/>
          </p:cNvSpPr>
          <p:nvPr>
            <p:ph idx="1"/>
          </p:nvPr>
        </p:nvSpPr>
        <p:spPr/>
        <p:txBody>
          <a:bodyPr>
            <a:normAutofit fontScale="92500" lnSpcReduction="10000"/>
          </a:bodyPr>
          <a:lstStyle/>
          <a:p>
            <a:pPr lvl="0"/>
            <a:r>
              <a:rPr lang="es-MX" sz="1900" b="1" dirty="0"/>
              <a:t>Considerando los gaps identificados en los tres procesos, </a:t>
            </a:r>
            <a:r>
              <a:rPr lang="es-MX" sz="1900" b="1" dirty="0" err="1"/>
              <a:t>solicitarias</a:t>
            </a:r>
            <a:r>
              <a:rPr lang="es-MX" sz="1900" b="1" dirty="0"/>
              <a:t> Diaristas? Para que subproceso/s, cuantos y en que turno</a:t>
            </a:r>
            <a:r>
              <a:rPr lang="es-MX" sz="1900" b="1" dirty="0" smtClean="0"/>
              <a:t>?</a:t>
            </a:r>
          </a:p>
          <a:p>
            <a:pPr marL="0" indent="0">
              <a:buNone/>
            </a:pPr>
            <a:r>
              <a:rPr lang="es-ES" sz="1500" b="1" dirty="0" smtClean="0"/>
              <a:t>Subprocesos afectados:</a:t>
            </a:r>
            <a:endParaRPr lang="es-ES" sz="1500" dirty="0" smtClean="0"/>
          </a:p>
          <a:p>
            <a:pPr marL="0" indent="0">
              <a:buNone/>
            </a:pPr>
            <a:r>
              <a:rPr lang="es-ES" sz="1500" dirty="0" err="1" smtClean="0"/>
              <a:t>Inbound</a:t>
            </a:r>
            <a:r>
              <a:rPr lang="es-ES" sz="1500" dirty="0" smtClean="0"/>
              <a:t>: Concentrado principalmente en la </a:t>
            </a:r>
            <a:r>
              <a:rPr lang="es-ES" sz="1500" dirty="0" err="1" smtClean="0"/>
              <a:t>subfase</a:t>
            </a:r>
            <a:r>
              <a:rPr lang="es-ES" sz="1500" dirty="0" smtClean="0"/>
              <a:t> de </a:t>
            </a:r>
            <a:r>
              <a:rPr lang="es-ES" sz="1500" i="1" dirty="0" smtClean="0"/>
              <a:t>Conexión IN</a:t>
            </a:r>
            <a:r>
              <a:rPr lang="es-ES" sz="1500" dirty="0" smtClean="0"/>
              <a:t> durante las horas de mayor pico nocturno.</a:t>
            </a:r>
          </a:p>
          <a:p>
            <a:pPr marL="0" indent="0">
              <a:buNone/>
            </a:pPr>
            <a:r>
              <a:rPr lang="es-ES" sz="1500" dirty="0" err="1" smtClean="0"/>
              <a:t>Outbound</a:t>
            </a:r>
            <a:r>
              <a:rPr lang="es-ES" sz="1500" dirty="0" smtClean="0"/>
              <a:t>: En las </a:t>
            </a:r>
            <a:r>
              <a:rPr lang="es-ES" sz="1500" dirty="0" err="1" smtClean="0"/>
              <a:t>subfases</a:t>
            </a:r>
            <a:r>
              <a:rPr lang="es-ES" sz="1500" dirty="0" smtClean="0"/>
              <a:t> de </a:t>
            </a:r>
            <a:r>
              <a:rPr lang="es-ES" sz="1500" i="1" dirty="0" smtClean="0"/>
              <a:t>Conexiones OUT</a:t>
            </a:r>
            <a:r>
              <a:rPr lang="es-ES" sz="1500" dirty="0" smtClean="0"/>
              <a:t> y </a:t>
            </a:r>
            <a:r>
              <a:rPr lang="es-ES" sz="1500" i="1" dirty="0" smtClean="0"/>
              <a:t>Despachadores</a:t>
            </a:r>
            <a:r>
              <a:rPr lang="es-ES" sz="1500" dirty="0" smtClean="0"/>
              <a:t> hacia la franja horaria de cierre de operación.</a:t>
            </a:r>
          </a:p>
          <a:p>
            <a:pPr marL="0" indent="0">
              <a:buNone/>
            </a:pPr>
            <a:r>
              <a:rPr lang="es-ES" sz="1500" dirty="0" err="1" smtClean="0"/>
              <a:t>Sorting</a:t>
            </a:r>
            <a:r>
              <a:rPr lang="es-ES" sz="1500" dirty="0" smtClean="0"/>
              <a:t>: En las horas valle/intermedias donde se presentan incrementos puntuales de saturación que superan la capacidad de la plantilla de planta.</a:t>
            </a:r>
          </a:p>
          <a:p>
            <a:pPr marL="0" indent="0">
              <a:buNone/>
            </a:pPr>
            <a:r>
              <a:rPr lang="es-ES" sz="1500" dirty="0" smtClean="0"/>
              <a:t>Evaluando cada una de las fases observamos que la situación se presente estable, son pocos los picos que tenemos y son periodos de tiempo corto, por lo que se puede buscar una estrategia para mover de áreas al personal  </a:t>
            </a:r>
            <a:endParaRPr lang="es-MX" sz="2000" dirty="0"/>
          </a:p>
          <a:p>
            <a:pPr lvl="0"/>
            <a:r>
              <a:rPr lang="es-MX" sz="1800" b="1" dirty="0"/>
              <a:t>Cual seria el criterio para decidir si vale la pena absorber el costo 2,5x versus el impacto operativo de no cubrir el gap</a:t>
            </a:r>
            <a:r>
              <a:rPr lang="es-MX" sz="1800" b="1" dirty="0" smtClean="0"/>
              <a:t>?</a:t>
            </a:r>
          </a:p>
          <a:p>
            <a:pPr marL="0" lvl="0" indent="0">
              <a:buNone/>
            </a:pPr>
            <a:endParaRPr lang="es-MX" sz="1500" dirty="0" smtClean="0"/>
          </a:p>
          <a:p>
            <a:pPr marL="0" lvl="0" indent="0" eaLnBrk="0" fontAlgn="base" hangingPunct="0">
              <a:lnSpc>
                <a:spcPct val="100000"/>
              </a:lnSpc>
              <a:spcBef>
                <a:spcPct val="0"/>
              </a:spcBef>
              <a:spcAft>
                <a:spcPct val="0"/>
              </a:spcAft>
              <a:buNone/>
            </a:pPr>
            <a:r>
              <a:rPr lang="es-MX" altLang="es-MX" sz="1500" dirty="0" smtClean="0"/>
              <a:t>Evaluaría si el costo </a:t>
            </a:r>
            <a:r>
              <a:rPr kumimoji="0" lang="es-MX" altLang="es-MX" sz="1500" b="0" i="0" u="none" strike="noStrike" cap="none" normalizeH="0" baseline="0" dirty="0" smtClean="0">
                <a:ln>
                  <a:noFill/>
                </a:ln>
                <a:solidFill>
                  <a:schemeClr val="tx1"/>
                </a:solidFill>
                <a:effectLst/>
              </a:rPr>
              <a:t>operativo de contratar al personal temporal (diaristas) es menor que el </a:t>
            </a:r>
            <a:r>
              <a:rPr kumimoji="0" lang="es-MX" altLang="es-MX" sz="1500" b="0" i="0" u="none" strike="noStrike" cap="none" normalizeH="0" baseline="0" dirty="0" err="1" smtClean="0">
                <a:ln>
                  <a:noFill/>
                </a:ln>
                <a:solidFill>
                  <a:schemeClr val="tx1"/>
                </a:solidFill>
                <a:effectLst/>
              </a:rPr>
              <a:t>ipacto</a:t>
            </a:r>
            <a:r>
              <a:rPr kumimoji="0" lang="es-MX" altLang="es-MX" sz="1500" b="0" i="0" u="none" strike="noStrike" cap="none" normalizeH="0" baseline="0" dirty="0" smtClean="0">
                <a:ln>
                  <a:noFill/>
                </a:ln>
                <a:solidFill>
                  <a:schemeClr val="tx1"/>
                </a:solidFill>
                <a:effectLst/>
              </a:rPr>
              <a:t> financiero y de penalización por </a:t>
            </a:r>
            <a:r>
              <a:rPr kumimoji="0" lang="es-MX" altLang="es-MX" sz="1500" i="0" u="none" strike="noStrike" cap="none" normalizeH="0" baseline="0" dirty="0" smtClean="0">
                <a:ln>
                  <a:noFill/>
                </a:ln>
                <a:solidFill>
                  <a:schemeClr val="tx1"/>
                </a:solidFill>
                <a:effectLst/>
              </a:rPr>
              <a:t>incumplimiento de las ventanas de salida (SLA de entrega), </a:t>
            </a:r>
            <a:r>
              <a:rPr kumimoji="0" lang="es-MX" altLang="es-MX" sz="1500" b="0" i="0" u="none" strike="noStrike" cap="none" normalizeH="0" baseline="0" dirty="0" smtClean="0">
                <a:ln>
                  <a:noFill/>
                </a:ln>
                <a:solidFill>
                  <a:schemeClr val="tx1"/>
                </a:solidFill>
                <a:effectLst/>
              </a:rPr>
              <a:t>retrasos en andenes o saturación de inventario en piso.</a:t>
            </a:r>
          </a:p>
          <a:p>
            <a:pPr marL="0" lvl="0" indent="0" eaLnBrk="0" fontAlgn="base" hangingPunct="0">
              <a:lnSpc>
                <a:spcPct val="100000"/>
              </a:lnSpc>
              <a:spcBef>
                <a:spcPct val="0"/>
              </a:spcBef>
              <a:spcAft>
                <a:spcPct val="0"/>
              </a:spcAft>
              <a:buNone/>
            </a:pPr>
            <a:endParaRPr kumimoji="0" lang="es-MX" altLang="es-MX" sz="1500" b="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1500" b="0" i="0" u="none" strike="noStrike" cap="none" normalizeH="0" baseline="0" dirty="0" smtClean="0">
                <a:ln>
                  <a:noFill/>
                </a:ln>
                <a:solidFill>
                  <a:schemeClr val="tx1"/>
                </a:solidFill>
                <a:effectLst/>
              </a:rPr>
              <a:t>Si el valor de la mercancía retenida o el costo de los atrasos logísticos supera el costo marginal del diarista, la contratación se justifica plenamente para garantizar la fluidez de la red.</a:t>
            </a:r>
            <a:endParaRPr lang="es-MX" dirty="0"/>
          </a:p>
        </p:txBody>
      </p:sp>
      <p:sp>
        <p:nvSpPr>
          <p:cNvPr id="7" name="Rectangle 3"/>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8620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26720" y="411480"/>
            <a:ext cx="10927080" cy="5765483"/>
          </a:xfrm>
        </p:spPr>
        <p:txBody>
          <a:bodyPr>
            <a:normAutofit fontScale="92500" lnSpcReduction="10000"/>
          </a:bodyPr>
          <a:lstStyle/>
          <a:p>
            <a:pPr lvl="0"/>
            <a:r>
              <a:rPr lang="es-MX" sz="1900" dirty="0" smtClean="0"/>
              <a:t>Como </a:t>
            </a:r>
            <a:r>
              <a:rPr lang="es-MX" sz="1900" dirty="0" err="1"/>
              <a:t>comunicarias</a:t>
            </a:r>
            <a:r>
              <a:rPr lang="es-MX" sz="1900" dirty="0"/>
              <a:t> la solicitud a tu </a:t>
            </a:r>
            <a:r>
              <a:rPr lang="es-MX" sz="1900" dirty="0" err="1"/>
              <a:t>lider</a:t>
            </a:r>
            <a:r>
              <a:rPr lang="es-MX" sz="1900" dirty="0"/>
              <a:t>? Redacta el mensaje que </a:t>
            </a:r>
            <a:r>
              <a:rPr lang="es-MX" sz="1900" dirty="0" err="1"/>
              <a:t>enviarias</a:t>
            </a:r>
            <a:r>
              <a:rPr lang="es-MX" sz="1900" dirty="0" smtClean="0"/>
              <a:t>.</a:t>
            </a:r>
          </a:p>
          <a:p>
            <a:pPr marL="0" indent="0">
              <a:buNone/>
            </a:pPr>
            <a:r>
              <a:rPr lang="es-ES" sz="1400" dirty="0" smtClean="0"/>
              <a:t>Hola </a:t>
            </a:r>
            <a:r>
              <a:rPr lang="es-ES" sz="1400" dirty="0" err="1" smtClean="0"/>
              <a:t>StakeHolder</a:t>
            </a:r>
            <a:endParaRPr lang="es-ES" sz="1400" dirty="0"/>
          </a:p>
          <a:p>
            <a:pPr marL="0" indent="0">
              <a:buNone/>
            </a:pPr>
            <a:r>
              <a:rPr lang="es-ES" sz="1400" dirty="0" smtClean="0"/>
              <a:t>Derivado del análisis de dimensionamiento ante el escenario de sobreventa para el día miércoles, identificamos brechas operativas importantes (</a:t>
            </a:r>
            <a:r>
              <a:rPr lang="es-ES" sz="1400" i="1" dirty="0" smtClean="0"/>
              <a:t>gaps</a:t>
            </a:r>
            <a:r>
              <a:rPr lang="es-ES" sz="1400" dirty="0" smtClean="0"/>
              <a:t>) que superan la capacidad de nuestra plantilla fija en los subprocesos de </a:t>
            </a:r>
            <a:r>
              <a:rPr lang="es-ES" sz="1400" dirty="0" err="1" smtClean="0"/>
              <a:t>Inbound</a:t>
            </a:r>
            <a:r>
              <a:rPr lang="es-ES" sz="1400" dirty="0" smtClean="0"/>
              <a:t> y </a:t>
            </a:r>
            <a:r>
              <a:rPr lang="es-ES" sz="1400" dirty="0" err="1" smtClean="0"/>
              <a:t>Outbound</a:t>
            </a:r>
            <a:r>
              <a:rPr lang="es-ES" sz="1400" dirty="0" smtClean="0"/>
              <a:t> durante las horas pico de los turnos nocturnos.</a:t>
            </a:r>
          </a:p>
          <a:p>
            <a:pPr marL="0" indent="0">
              <a:buNone/>
            </a:pPr>
            <a:r>
              <a:rPr lang="es-ES" sz="1400" dirty="0" smtClean="0"/>
              <a:t>Como primera línea de acción y antes de recurrir a contratación externa, implementaremos las siguientes alternativas de solución internas para absorber el desvío:</a:t>
            </a:r>
          </a:p>
          <a:p>
            <a:pPr marL="0" indent="0">
              <a:buNone/>
            </a:pPr>
            <a:r>
              <a:rPr lang="es-ES" sz="1400" dirty="0" smtClean="0"/>
              <a:t>Traslape y reubicación de turnos: Movilización táctica del personal fijo de planta de las horas valle (madrugada) hacia las líneas críticas de mayor saturación.</a:t>
            </a:r>
          </a:p>
          <a:p>
            <a:pPr marL="0" indent="0">
              <a:buNone/>
            </a:pPr>
            <a:r>
              <a:rPr lang="es-ES" sz="1400" dirty="0" smtClean="0"/>
              <a:t>Priorización de flujos y optimización operativa: Segmentación del procesamiento por tipo de carga y ajuste de bandas para maximizar la productividad efectiva de los recursos actuales.</a:t>
            </a:r>
          </a:p>
          <a:p>
            <a:pPr marL="0" indent="0">
              <a:buNone/>
            </a:pPr>
            <a:r>
              <a:rPr lang="es-ES" sz="1400" dirty="0" smtClean="0"/>
              <a:t>Solo en caso de que estas alternativas internas resulten insuficientes para proteger nuestros niveles de servicio (SLA), solicitaremos como última instancia la incorporación de personal temporal (diaristas) conforme al desglose horario de nuestro reporte de control.</a:t>
            </a:r>
          </a:p>
          <a:p>
            <a:pPr marL="0" indent="0">
              <a:buNone/>
            </a:pPr>
            <a:r>
              <a:rPr lang="es-ES" sz="1400" dirty="0" smtClean="0"/>
              <a:t>Quedo a tu disposición para revisar los números a detalle y coordinar la estrategia.</a:t>
            </a:r>
          </a:p>
          <a:p>
            <a:pPr marL="0" indent="0">
              <a:buNone/>
            </a:pPr>
            <a:r>
              <a:rPr lang="es-ES" sz="1400" dirty="0" smtClean="0"/>
              <a:t>Saludos cordiales,</a:t>
            </a:r>
          </a:p>
          <a:p>
            <a:pPr marL="0" indent="0">
              <a:buNone/>
            </a:pPr>
            <a:r>
              <a:rPr lang="es-ES" sz="1400" dirty="0" smtClean="0"/>
              <a:t>Orlando chavez</a:t>
            </a:r>
          </a:p>
          <a:p>
            <a:pPr lvl="0"/>
            <a:r>
              <a:rPr lang="es-MX" sz="1800" dirty="0" smtClean="0"/>
              <a:t>Ves </a:t>
            </a:r>
            <a:r>
              <a:rPr lang="es-MX" sz="1800" dirty="0"/>
              <a:t>alguna otra alternativa que no sean los Diaristas para absorber los </a:t>
            </a:r>
            <a:r>
              <a:rPr lang="es-MX" sz="1800" dirty="0" smtClean="0"/>
              <a:t>desvíos?</a:t>
            </a:r>
            <a:endParaRPr lang="es-MX" sz="1800" dirty="0"/>
          </a:p>
          <a:p>
            <a:pPr marL="0" lvl="0" indent="0">
              <a:buNone/>
            </a:pPr>
            <a:r>
              <a:rPr kumimoji="0" lang="es-MX" altLang="es-MX" sz="1400" i="0" u="none" strike="noStrike" cap="none" normalizeH="0" baseline="0" dirty="0" smtClean="0">
                <a:ln>
                  <a:noFill/>
                </a:ln>
                <a:solidFill>
                  <a:schemeClr val="tx1"/>
                </a:solidFill>
                <a:effectLst/>
              </a:rPr>
              <a:t>Flexibilización y traslape de turnos: </a:t>
            </a:r>
            <a:r>
              <a:rPr kumimoji="0" lang="es-MX" altLang="es-MX" sz="1400" b="0" i="0" u="none" strike="noStrike" cap="none" normalizeH="0" baseline="0" dirty="0" smtClean="0">
                <a:ln>
                  <a:noFill/>
                </a:ln>
                <a:solidFill>
                  <a:schemeClr val="tx1"/>
                </a:solidFill>
                <a:effectLst/>
              </a:rPr>
              <a:t>Reubicar temporalmente al personal fijo de planta de los turnos con menor demanda (valles de madrugada) hacia las líneas críticas mediante un esquema de turnos traslapados.</a:t>
            </a:r>
          </a:p>
          <a:p>
            <a:pPr marL="0" lvl="0" indent="0">
              <a:buNone/>
            </a:pPr>
            <a:endParaRPr kumimoji="0" lang="es-MX" altLang="es-MX" sz="1400" b="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1400" i="0" u="none" strike="noStrike" cap="none" normalizeH="0" baseline="0" dirty="0" smtClean="0">
                <a:ln>
                  <a:noFill/>
                </a:ln>
                <a:solidFill>
                  <a:schemeClr val="tx1"/>
                </a:solidFill>
                <a:effectLst/>
              </a:rPr>
              <a:t>Optimización de productividades: </a:t>
            </a:r>
            <a:r>
              <a:rPr kumimoji="0" lang="es-MX" altLang="es-MX" sz="1400" b="0" i="0" u="none" strike="noStrike" cap="none" normalizeH="0" baseline="0" dirty="0" smtClean="0">
                <a:ln>
                  <a:noFill/>
                </a:ln>
                <a:solidFill>
                  <a:schemeClr val="tx1"/>
                </a:solidFill>
                <a:effectLst/>
              </a:rPr>
              <a:t>Apoyarse en mejoras temporales de los procesos de estiba y escaneo para elevar la productividad efectiva ponderada antes de recurrir a la contratación externa.</a:t>
            </a:r>
          </a:p>
          <a:p>
            <a:pPr marL="0" lvl="0" indent="0" eaLnBrk="0" fontAlgn="base" hangingPunct="0">
              <a:lnSpc>
                <a:spcPct val="100000"/>
              </a:lnSpc>
              <a:spcBef>
                <a:spcPct val="0"/>
              </a:spcBef>
              <a:spcAft>
                <a:spcPct val="0"/>
              </a:spcAft>
              <a:buNone/>
            </a:pPr>
            <a:endParaRPr kumimoji="0" lang="es-MX" altLang="es-MX" sz="1400" b="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1400" i="0" u="none" strike="noStrike" cap="none" normalizeH="0" baseline="0" dirty="0" smtClean="0">
                <a:ln>
                  <a:noFill/>
                </a:ln>
                <a:solidFill>
                  <a:schemeClr val="tx1"/>
                </a:solidFill>
                <a:effectLst/>
              </a:rPr>
              <a:t>Ajuste temporal en ventanas de recepción/salida: </a:t>
            </a:r>
            <a:r>
              <a:rPr kumimoji="0" lang="es-MX" altLang="es-MX" sz="1400" b="0" i="0" u="none" strike="noStrike" cap="none" normalizeH="0" baseline="0" dirty="0" smtClean="0">
                <a:ln>
                  <a:noFill/>
                </a:ln>
                <a:solidFill>
                  <a:schemeClr val="tx1"/>
                </a:solidFill>
                <a:effectLst/>
              </a:rPr>
              <a:t>Negociar con áreas comerciales o de transporte un corrimiento menor en los horarios de inyección de volumen para aplanar los picos de demanda.</a:t>
            </a:r>
            <a:endParaRPr kumimoji="0" lang="es-MX" altLang="es-MX" sz="1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392189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b="1" dirty="0"/>
              <a:t>5. </a:t>
            </a:r>
            <a:r>
              <a:rPr lang="es-MX" b="1" dirty="0" err="1"/>
              <a:t>Gestion</a:t>
            </a:r>
            <a:r>
              <a:rPr lang="es-MX" b="1" dirty="0"/>
              <a:t> del </a:t>
            </a:r>
            <a:r>
              <a:rPr lang="es-MX" b="1" dirty="0" err="1"/>
              <a:t>desvio</a:t>
            </a:r>
            <a:r>
              <a:rPr lang="es-MX" b="1" dirty="0"/>
              <a:t> de +14</a:t>
            </a:r>
            <a:r>
              <a:rPr lang="es-MX" b="1" dirty="0" smtClean="0"/>
              <a:t>%</a:t>
            </a:r>
            <a:endParaRPr lang="es-MX" dirty="0"/>
          </a:p>
        </p:txBody>
      </p:sp>
      <p:sp>
        <p:nvSpPr>
          <p:cNvPr id="3" name="Marcador de contenido 2"/>
          <p:cNvSpPr>
            <a:spLocks noGrp="1"/>
          </p:cNvSpPr>
          <p:nvPr>
            <p:ph idx="1"/>
          </p:nvPr>
        </p:nvSpPr>
        <p:spPr/>
        <p:txBody>
          <a:bodyPr>
            <a:normAutofit/>
          </a:bodyPr>
          <a:lstStyle/>
          <a:p>
            <a:r>
              <a:rPr lang="es-MX" sz="1800" b="1" dirty="0"/>
              <a:t>Que acciones tomas de forma inmediata al recibir la alerta</a:t>
            </a:r>
            <a:r>
              <a:rPr lang="es-MX" sz="1800" b="1" dirty="0" smtClean="0"/>
              <a:t>?</a:t>
            </a:r>
          </a:p>
          <a:p>
            <a:endParaRPr lang="es-MX" sz="1800" dirty="0" smtClean="0"/>
          </a:p>
          <a:p>
            <a:pPr marL="0" lvl="0" indent="0" eaLnBrk="0" fontAlgn="base" hangingPunct="0">
              <a:lnSpc>
                <a:spcPct val="100000"/>
              </a:lnSpc>
              <a:spcBef>
                <a:spcPct val="0"/>
              </a:spcBef>
              <a:spcAft>
                <a:spcPct val="0"/>
              </a:spcAft>
              <a:buNone/>
            </a:pPr>
            <a:r>
              <a:rPr lang="es-MX" altLang="es-MX" sz="1400" dirty="0"/>
              <a:t>Activar de inmediato la corrida del modelo de simulación de sobreventa para identificar las franjas horarias y subprocesos (</a:t>
            </a:r>
            <a:r>
              <a:rPr lang="es-MX" altLang="es-MX" sz="1400" i="1" dirty="0" err="1"/>
              <a:t>Inbound</a:t>
            </a:r>
            <a:r>
              <a:rPr lang="es-MX" altLang="es-MX" sz="1400" dirty="0"/>
              <a:t>, </a:t>
            </a:r>
            <a:r>
              <a:rPr lang="es-MX" altLang="es-MX" sz="1400" i="1" dirty="0" err="1"/>
              <a:t>Outbound</a:t>
            </a:r>
            <a:r>
              <a:rPr lang="es-MX" altLang="es-MX" sz="1400" dirty="0"/>
              <a:t>, </a:t>
            </a:r>
            <a:r>
              <a:rPr lang="es-MX" altLang="es-MX" sz="1400" i="1" dirty="0" err="1"/>
              <a:t>Sorting</a:t>
            </a:r>
            <a:r>
              <a:rPr lang="es-MX" altLang="es-MX" sz="1400" dirty="0"/>
              <a:t>) más impactados.</a:t>
            </a:r>
          </a:p>
          <a:p>
            <a:pPr marL="0" lvl="0" indent="0" eaLnBrk="0" fontAlgn="base" hangingPunct="0">
              <a:lnSpc>
                <a:spcPct val="100000"/>
              </a:lnSpc>
              <a:spcBef>
                <a:spcPct val="0"/>
              </a:spcBef>
              <a:spcAft>
                <a:spcPct val="0"/>
              </a:spcAft>
              <a:buNone/>
            </a:pPr>
            <a:r>
              <a:rPr lang="es-MX" altLang="es-MX" sz="1400" dirty="0" smtClean="0"/>
              <a:t>Verificar las columnas de brecha de personal (</a:t>
            </a:r>
            <a:r>
              <a:rPr lang="es-MX" altLang="es-MX" sz="1400" i="1" dirty="0" smtClean="0"/>
              <a:t>HC Diaristas Requeridos</a:t>
            </a:r>
            <a:r>
              <a:rPr lang="es-MX" altLang="es-MX" sz="1400" dirty="0" smtClean="0"/>
              <a:t>) para cuantificar el volumen exacto de personal temporal necesario.</a:t>
            </a:r>
          </a:p>
          <a:p>
            <a:pPr marL="0" lvl="0" indent="0" eaLnBrk="0" fontAlgn="base" hangingPunct="0">
              <a:lnSpc>
                <a:spcPct val="100000"/>
              </a:lnSpc>
              <a:spcBef>
                <a:spcPct val="0"/>
              </a:spcBef>
              <a:spcAft>
                <a:spcPct val="0"/>
              </a:spcAft>
              <a:buNone/>
            </a:pPr>
            <a:r>
              <a:rPr lang="es-MX" altLang="es-MX" sz="1400" dirty="0" smtClean="0"/>
              <a:t>Contactar </a:t>
            </a:r>
            <a:r>
              <a:rPr lang="es-MX" altLang="es-MX" sz="1400" dirty="0"/>
              <a:t>al proveedor de diaristas para asegurar la pre-asignación de los recursos antes de que se alcancen las ventanas críticas de operación.</a:t>
            </a:r>
            <a:endParaRPr lang="es-MX" sz="1400" dirty="0"/>
          </a:p>
          <a:p>
            <a:pPr lvl="0"/>
            <a:r>
              <a:rPr lang="es-MX" sz="1800" b="1" dirty="0"/>
              <a:t>Si el proveedor de Diaristas no puede abastecer unidades adicionales a tiempo, que alternativa operativa </a:t>
            </a:r>
            <a:r>
              <a:rPr lang="es-MX" sz="1800" b="1" dirty="0" err="1"/>
              <a:t>evaluas</a:t>
            </a:r>
            <a:r>
              <a:rPr lang="es-MX" sz="1800" b="1" dirty="0"/>
              <a:t>? Como afecta eso al cumplimiento de nivel de servicio</a:t>
            </a:r>
            <a:r>
              <a:rPr lang="es-MX" sz="1800" b="1" dirty="0" smtClean="0"/>
              <a:t>.</a:t>
            </a:r>
          </a:p>
          <a:p>
            <a:pPr marL="0" lvl="0" indent="0">
              <a:buNone/>
            </a:pPr>
            <a:endParaRPr lang="es-MX" sz="1800" dirty="0" smtClean="0"/>
          </a:p>
          <a:p>
            <a:pPr marL="0" lvl="0" indent="0" eaLnBrk="0" fontAlgn="base" hangingPunct="0">
              <a:lnSpc>
                <a:spcPct val="100000"/>
              </a:lnSpc>
              <a:spcBef>
                <a:spcPct val="0"/>
              </a:spcBef>
              <a:spcAft>
                <a:spcPct val="0"/>
              </a:spcAft>
              <a:buNone/>
            </a:pPr>
            <a:r>
              <a:rPr lang="es-MX" altLang="es-MX" sz="1500" dirty="0" smtClean="0"/>
              <a:t>Alternativas</a:t>
            </a:r>
            <a:r>
              <a:rPr lang="es-MX" altLang="es-MX" sz="1500" dirty="0"/>
              <a:t>: Implementar un plan de contingencia basado en turnos traslapados y redistribución de la plantilla fija (personal de planta) de las horas valle a las horas pico, además de priorizar el procesamiento por criticidad del tipo de envío (por ejemplo, separando dinámicamente flujos críticos frente a los de menor urgencia).</a:t>
            </a:r>
          </a:p>
          <a:p>
            <a:pPr marL="0" lvl="0" indent="0" eaLnBrk="0" fontAlgn="base" hangingPunct="0">
              <a:lnSpc>
                <a:spcPct val="100000"/>
              </a:lnSpc>
              <a:spcBef>
                <a:spcPct val="0"/>
              </a:spcBef>
              <a:spcAft>
                <a:spcPct val="0"/>
              </a:spcAft>
              <a:buNone/>
            </a:pPr>
            <a:r>
              <a:rPr lang="es-MX" altLang="es-MX" sz="1500" dirty="0"/>
              <a:t>Impacto en el nivel de servicio: Se genera un cuello de botella temporal en andenes y conexiones, incrementando el riesgo de incumplir las ventanas de salida (SLA) y provocando saturación de inventario en piso.</a:t>
            </a:r>
            <a:endParaRPr lang="es-MX" sz="1500" dirty="0"/>
          </a:p>
        </p:txBody>
      </p:sp>
    </p:spTree>
    <p:extLst>
      <p:ext uri="{BB962C8B-B14F-4D97-AF65-F5344CB8AC3E}">
        <p14:creationId xmlns:p14="http://schemas.microsoft.com/office/powerpoint/2010/main" val="146228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68680" y="667385"/>
            <a:ext cx="10515600" cy="1313815"/>
          </a:xfrm>
        </p:spPr>
        <p:txBody>
          <a:bodyPr/>
          <a:lstStyle/>
          <a:p>
            <a:r>
              <a:rPr lang="es-ES" sz="1800" b="1" dirty="0" smtClean="0"/>
              <a:t>¿Cómo documentarías y escalarías el desvío de </a:t>
            </a:r>
            <a:r>
              <a:rPr lang="es-ES" sz="1800" b="1" dirty="0" err="1" smtClean="0"/>
              <a:t>forecast</a:t>
            </a:r>
            <a:r>
              <a:rPr lang="es-ES" sz="1800" b="1" dirty="0" smtClean="0"/>
              <a:t> dentro de tu equipo?</a:t>
            </a:r>
            <a:endParaRPr lang="es-ES" sz="1800" dirty="0" smtClean="0"/>
          </a:p>
          <a:p>
            <a:pPr marL="0" indent="0">
              <a:buNone/>
            </a:pPr>
            <a:r>
              <a:rPr lang="es-ES" sz="1400" dirty="0" smtClean="0"/>
              <a:t>Mediante un reporte de control de desviaciones que cruce la </a:t>
            </a:r>
            <a:r>
              <a:rPr lang="es-ES" sz="1400" i="1" dirty="0" smtClean="0"/>
              <a:t>Demanda Base</a:t>
            </a:r>
            <a:r>
              <a:rPr lang="es-ES" sz="1400" dirty="0" smtClean="0"/>
              <a:t> frente a la </a:t>
            </a:r>
            <a:r>
              <a:rPr lang="es-ES" sz="1400" i="1" dirty="0" smtClean="0"/>
              <a:t>Demanda de Sobreventa</a:t>
            </a:r>
            <a:r>
              <a:rPr lang="es-ES" sz="1400" dirty="0" smtClean="0"/>
              <a:t> por hora.</a:t>
            </a:r>
          </a:p>
          <a:p>
            <a:pPr marL="0" indent="0">
              <a:buNone/>
            </a:pPr>
            <a:r>
              <a:rPr lang="es-ES" sz="1400" dirty="0" smtClean="0"/>
              <a:t>Escalándolo formalmente a través de un tablero ejecutivo (</a:t>
            </a:r>
            <a:r>
              <a:rPr lang="es-ES" sz="1400" dirty="0" err="1" smtClean="0"/>
              <a:t>Power</a:t>
            </a:r>
            <a:r>
              <a:rPr lang="es-ES" sz="1400" dirty="0" smtClean="0"/>
              <a:t> BI) y una minuta de incidencias hacia los líderes de turno y gerencia de operaciones para alinear la capacidad de respuesta.</a:t>
            </a:r>
          </a:p>
          <a:p>
            <a:pPr marL="0" indent="0">
              <a:buNone/>
            </a:pPr>
            <a:endParaRPr lang="es-MX" dirty="0" smtClean="0"/>
          </a:p>
          <a:p>
            <a:pPr marL="0" indent="0">
              <a:buNone/>
            </a:pPr>
            <a:endParaRPr lang="es-MX" dirty="0"/>
          </a:p>
        </p:txBody>
      </p:sp>
      <p:sp>
        <p:nvSpPr>
          <p:cNvPr id="4" name="Título 1"/>
          <p:cNvSpPr>
            <a:spLocks noGrp="1"/>
          </p:cNvSpPr>
          <p:nvPr>
            <p:ph type="title"/>
          </p:nvPr>
        </p:nvSpPr>
        <p:spPr>
          <a:xfrm>
            <a:off x="685800" y="1981201"/>
            <a:ext cx="9768840" cy="670560"/>
          </a:xfrm>
        </p:spPr>
        <p:txBody>
          <a:bodyPr>
            <a:normAutofit fontScale="90000"/>
          </a:bodyPr>
          <a:lstStyle/>
          <a:p>
            <a:r>
              <a:rPr lang="es-MX" b="1" dirty="0"/>
              <a:t>6. </a:t>
            </a:r>
            <a:r>
              <a:rPr lang="es-MX" b="1" dirty="0" err="1"/>
              <a:t>Comunicacion</a:t>
            </a:r>
            <a:endParaRPr lang="es-MX" dirty="0"/>
          </a:p>
        </p:txBody>
      </p:sp>
      <p:sp>
        <p:nvSpPr>
          <p:cNvPr id="5" name="Marcador de contenido 2"/>
          <p:cNvSpPr txBox="1">
            <a:spLocks/>
          </p:cNvSpPr>
          <p:nvPr/>
        </p:nvSpPr>
        <p:spPr>
          <a:xfrm>
            <a:off x="868680" y="2953385"/>
            <a:ext cx="10515600" cy="131381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s-MX" sz="7200" b="1" dirty="0" smtClean="0"/>
              <a:t>Qué </a:t>
            </a:r>
            <a:r>
              <a:rPr lang="es-MX" sz="7200" b="1" dirty="0" err="1"/>
              <a:t>stakeholders</a:t>
            </a:r>
            <a:r>
              <a:rPr lang="es-MX" sz="7200" b="1" dirty="0"/>
              <a:t> crees que interactúan y a qué nivel en el </a:t>
            </a:r>
            <a:r>
              <a:rPr lang="es-MX" sz="7200" b="1" dirty="0" err="1"/>
              <a:t>end</a:t>
            </a:r>
            <a:r>
              <a:rPr lang="es-MX" sz="7200" b="1" dirty="0"/>
              <a:t> to </a:t>
            </a:r>
            <a:r>
              <a:rPr lang="es-MX" sz="7200" b="1" dirty="0" err="1"/>
              <a:t>end</a:t>
            </a:r>
            <a:r>
              <a:rPr lang="es-MX" sz="7200" b="1" dirty="0"/>
              <a:t> de este caso</a:t>
            </a:r>
            <a:r>
              <a:rPr lang="es-MX" sz="7200" b="1" dirty="0" smtClean="0"/>
              <a:t>?</a:t>
            </a:r>
          </a:p>
          <a:p>
            <a:pPr lvl="0"/>
            <a:endParaRPr lang="es-MX" sz="2300" dirty="0" smtClean="0"/>
          </a:p>
          <a:p>
            <a:pPr marL="0" lvl="0" indent="0" eaLnBrk="0" fontAlgn="base" hangingPunct="0">
              <a:lnSpc>
                <a:spcPct val="100000"/>
              </a:lnSpc>
              <a:spcBef>
                <a:spcPct val="0"/>
              </a:spcBef>
              <a:spcAft>
                <a:spcPct val="0"/>
              </a:spcAft>
              <a:buNone/>
            </a:pPr>
            <a:r>
              <a:rPr kumimoji="0" lang="es-MX" altLang="es-MX" sz="5600" i="0" u="none" strike="noStrike" cap="none" normalizeH="0" baseline="0" dirty="0" smtClean="0">
                <a:ln>
                  <a:noFill/>
                </a:ln>
                <a:solidFill>
                  <a:schemeClr val="tx1"/>
                </a:solidFill>
                <a:effectLst/>
              </a:rPr>
              <a:t>Nivel Operativo: Líderes de turno de </a:t>
            </a:r>
            <a:r>
              <a:rPr kumimoji="0" lang="es-MX" altLang="es-MX" sz="5600" i="0" u="none" strike="noStrike" cap="none" normalizeH="0" baseline="0" dirty="0" err="1" smtClean="0">
                <a:ln>
                  <a:noFill/>
                </a:ln>
                <a:solidFill>
                  <a:schemeClr val="tx1"/>
                </a:solidFill>
                <a:effectLst/>
              </a:rPr>
              <a:t>Inbound</a:t>
            </a:r>
            <a:r>
              <a:rPr kumimoji="0" lang="es-MX" altLang="es-MX" sz="5600" i="0" u="none" strike="noStrike" cap="none" normalizeH="0" baseline="0" dirty="0" smtClean="0">
                <a:ln>
                  <a:noFill/>
                </a:ln>
                <a:solidFill>
                  <a:schemeClr val="tx1"/>
                </a:solidFill>
                <a:effectLst/>
              </a:rPr>
              <a:t>, </a:t>
            </a:r>
            <a:r>
              <a:rPr kumimoji="0" lang="es-MX" altLang="es-MX" sz="5600" i="0" u="none" strike="noStrike" cap="none" normalizeH="0" baseline="0" dirty="0" err="1" smtClean="0">
                <a:ln>
                  <a:noFill/>
                </a:ln>
                <a:solidFill>
                  <a:schemeClr val="tx1"/>
                </a:solidFill>
                <a:effectLst/>
              </a:rPr>
              <a:t>Outbound</a:t>
            </a:r>
            <a:r>
              <a:rPr kumimoji="0" lang="es-MX" altLang="es-MX" sz="5600" i="0" u="none" strike="noStrike" cap="none" normalizeH="0" baseline="0" dirty="0" smtClean="0">
                <a:ln>
                  <a:noFill/>
                </a:ln>
                <a:solidFill>
                  <a:schemeClr val="tx1"/>
                </a:solidFill>
                <a:effectLst/>
              </a:rPr>
              <a:t> y </a:t>
            </a:r>
            <a:r>
              <a:rPr kumimoji="0" lang="es-MX" altLang="es-MX" sz="5600" i="0" u="none" strike="noStrike" cap="none" normalizeH="0" baseline="0" dirty="0" err="1" smtClean="0">
                <a:ln>
                  <a:noFill/>
                </a:ln>
                <a:solidFill>
                  <a:schemeClr val="tx1"/>
                </a:solidFill>
                <a:effectLst/>
              </a:rPr>
              <a:t>Sorting</a:t>
            </a:r>
            <a:r>
              <a:rPr kumimoji="0" lang="es-MX" altLang="es-MX" sz="5600" i="0" u="none" strike="noStrike" cap="none" normalizeH="0" baseline="0" dirty="0" smtClean="0">
                <a:ln>
                  <a:noFill/>
                </a:ln>
                <a:solidFill>
                  <a:schemeClr val="tx1"/>
                </a:solidFill>
                <a:effectLst/>
              </a:rPr>
              <a:t> (ejecución y control en piso).</a:t>
            </a:r>
          </a:p>
          <a:p>
            <a:pPr marL="0" lvl="0" indent="0" eaLnBrk="0" fontAlgn="base" hangingPunct="0">
              <a:lnSpc>
                <a:spcPct val="100000"/>
              </a:lnSpc>
              <a:spcBef>
                <a:spcPct val="0"/>
              </a:spcBef>
              <a:spcAft>
                <a:spcPct val="0"/>
              </a:spcAft>
              <a:buNone/>
            </a:pPr>
            <a:endParaRPr kumimoji="0" lang="es-MX" altLang="es-MX" sz="560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5600" i="0" u="none" strike="noStrike" cap="none" normalizeH="0" baseline="0" dirty="0" smtClean="0">
                <a:ln>
                  <a:noFill/>
                </a:ln>
                <a:solidFill>
                  <a:schemeClr val="tx1"/>
                </a:solidFill>
                <a:effectLst/>
              </a:rPr>
              <a:t>Nivel Táctico / Planeación: Control de Operaciones, Planeadores de Demanda y Proveedores de Recursos Temporales (gestión de abasto y dimensionamiento).</a:t>
            </a:r>
          </a:p>
          <a:p>
            <a:pPr marL="0" lvl="0" indent="0" eaLnBrk="0" fontAlgn="base" hangingPunct="0">
              <a:lnSpc>
                <a:spcPct val="100000"/>
              </a:lnSpc>
              <a:spcBef>
                <a:spcPct val="0"/>
              </a:spcBef>
              <a:spcAft>
                <a:spcPct val="0"/>
              </a:spcAft>
              <a:buNone/>
            </a:pPr>
            <a:endParaRPr kumimoji="0" lang="es-MX" altLang="es-MX" sz="560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5600" i="0" u="none" strike="noStrike" cap="none" normalizeH="0" baseline="0" dirty="0" smtClean="0">
                <a:ln>
                  <a:noFill/>
                </a:ln>
                <a:solidFill>
                  <a:schemeClr val="tx1"/>
                </a:solidFill>
                <a:effectLst/>
              </a:rPr>
              <a:t>Nivel Estratégico: Gerencia de Operaciones y Dirección (toma de decisiones presupuestales, autorización de costos marginales y gestión de niveles de servicio).</a:t>
            </a:r>
          </a:p>
          <a:p>
            <a:pPr marL="0" lvl="0" indent="0">
              <a:buNone/>
            </a:pPr>
            <a:endParaRPr lang="es-MX" sz="2300" dirty="0"/>
          </a:p>
          <a:p>
            <a:pPr lvl="0"/>
            <a:r>
              <a:rPr lang="es-MX" sz="7200" dirty="0"/>
              <a:t>Qué flujo de comunicación crees que es el ideal para un caso como este?</a:t>
            </a:r>
          </a:p>
          <a:p>
            <a:pPr marL="0" indent="0">
              <a:buNone/>
            </a:pPr>
            <a:r>
              <a:rPr lang="es-ES" sz="5600" dirty="0" smtClean="0"/>
              <a:t>Un flujo en cascada y de doble vía:</a:t>
            </a:r>
          </a:p>
          <a:p>
            <a:pPr marL="0" indent="0">
              <a:buNone/>
            </a:pPr>
            <a:r>
              <a:rPr lang="es-ES" sz="5600" dirty="0" smtClean="0"/>
              <a:t>Alerta temprana automatizada desde el modelo de planeación hacia Planeación y Operaciones.</a:t>
            </a:r>
          </a:p>
          <a:p>
            <a:pPr marL="0" indent="0">
              <a:buNone/>
            </a:pPr>
            <a:r>
              <a:rPr lang="es-ES" sz="5600" dirty="0" smtClean="0"/>
              <a:t>Validación de factibilidad de recursos con Proveedores.</a:t>
            </a:r>
          </a:p>
          <a:p>
            <a:pPr marL="0" indent="0">
              <a:buNone/>
            </a:pPr>
            <a:r>
              <a:rPr lang="es-ES" sz="5600" dirty="0" smtClean="0"/>
              <a:t>Alineación diaria (</a:t>
            </a:r>
            <a:r>
              <a:rPr lang="es-ES" sz="5600" dirty="0" err="1" smtClean="0"/>
              <a:t>Daily</a:t>
            </a:r>
            <a:r>
              <a:rPr lang="es-ES" sz="5600" dirty="0" smtClean="0"/>
              <a:t> </a:t>
            </a:r>
            <a:r>
              <a:rPr lang="es-ES" sz="5600" dirty="0" err="1" smtClean="0"/>
              <a:t>Standup</a:t>
            </a:r>
            <a:r>
              <a:rPr lang="es-ES" sz="5600" dirty="0" smtClean="0"/>
              <a:t>) con líderes de turno para revisar la ejecución y ajustes en tiempo real.</a:t>
            </a:r>
          </a:p>
          <a:p>
            <a:pPr marL="0" indent="0">
              <a:buFont typeface="Arial" panose="020B0604020202020204" pitchFamily="34" charset="0"/>
              <a:buNone/>
            </a:pPr>
            <a:endParaRPr lang="es-MX" dirty="0" smtClean="0"/>
          </a:p>
          <a:p>
            <a:pPr marL="0" indent="0">
              <a:buFont typeface="Arial" panose="020B0604020202020204" pitchFamily="34" charset="0"/>
              <a:buNone/>
            </a:pPr>
            <a:endParaRPr lang="es-MX" dirty="0"/>
          </a:p>
        </p:txBody>
      </p:sp>
    </p:spTree>
    <p:extLst>
      <p:ext uri="{BB962C8B-B14F-4D97-AF65-F5344CB8AC3E}">
        <p14:creationId xmlns:p14="http://schemas.microsoft.com/office/powerpoint/2010/main" val="3735162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23240" y="616584"/>
            <a:ext cx="10515600" cy="5662295"/>
          </a:xfrm>
        </p:spPr>
        <p:txBody>
          <a:bodyPr>
            <a:normAutofit lnSpcReduction="10000"/>
          </a:bodyPr>
          <a:lstStyle/>
          <a:p>
            <a:r>
              <a:rPr lang="es-MX" sz="1800" b="1" dirty="0" smtClean="0"/>
              <a:t>Que información necesitarías tener disponible y de qué tipo de información?</a:t>
            </a:r>
          </a:p>
          <a:p>
            <a:pPr marL="0" lvl="0" indent="0" eaLnBrk="0" fontAlgn="base" hangingPunct="0">
              <a:lnSpc>
                <a:spcPct val="100000"/>
              </a:lnSpc>
              <a:spcBef>
                <a:spcPct val="0"/>
              </a:spcBef>
              <a:spcAft>
                <a:spcPct val="0"/>
              </a:spcAft>
              <a:buNone/>
            </a:pPr>
            <a:endParaRPr kumimoji="0" lang="es-MX" altLang="es-MX" sz="140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1400" i="0" u="none" strike="noStrike" cap="none" normalizeH="0" baseline="0" dirty="0" smtClean="0">
                <a:ln>
                  <a:noFill/>
                </a:ln>
                <a:solidFill>
                  <a:schemeClr val="tx1"/>
                </a:solidFill>
                <a:effectLst/>
              </a:rPr>
              <a:t>Información cuantitativa: Volúmenes proyectados vs. reales, productividades efectivas ponderadas, costos marginales de diaristas y horas pico de saturación.</a:t>
            </a:r>
          </a:p>
          <a:p>
            <a:pPr marL="0" lvl="0" indent="0" eaLnBrk="0" fontAlgn="base" hangingPunct="0">
              <a:lnSpc>
                <a:spcPct val="100000"/>
              </a:lnSpc>
              <a:spcBef>
                <a:spcPct val="0"/>
              </a:spcBef>
              <a:spcAft>
                <a:spcPct val="0"/>
              </a:spcAft>
              <a:buNone/>
            </a:pPr>
            <a:endParaRPr kumimoji="0" lang="es-MX" altLang="es-MX" sz="1400" i="0" u="none" strike="noStrike" cap="none" normalizeH="0" baseline="0" dirty="0" smtClean="0">
              <a:ln>
                <a:noFill/>
              </a:ln>
              <a:solidFill>
                <a:schemeClr val="tx1"/>
              </a:solidFill>
              <a:effectLst/>
            </a:endParaRPr>
          </a:p>
          <a:p>
            <a:pPr marL="0" lvl="0" indent="0" eaLnBrk="0" fontAlgn="base" hangingPunct="0">
              <a:lnSpc>
                <a:spcPct val="100000"/>
              </a:lnSpc>
              <a:spcBef>
                <a:spcPct val="0"/>
              </a:spcBef>
              <a:spcAft>
                <a:spcPct val="0"/>
              </a:spcAft>
              <a:buNone/>
            </a:pPr>
            <a:r>
              <a:rPr kumimoji="0" lang="es-MX" altLang="es-MX" sz="1400" i="0" u="none" strike="noStrike" cap="none" normalizeH="0" baseline="0" dirty="0" smtClean="0">
                <a:ln>
                  <a:noFill/>
                </a:ln>
                <a:solidFill>
                  <a:schemeClr val="tx1"/>
                </a:solidFill>
                <a:effectLst/>
              </a:rPr>
              <a:t>Información cualitativa: </a:t>
            </a:r>
            <a:r>
              <a:rPr kumimoji="0" lang="es-MX" altLang="es-MX" sz="1400" b="0" i="0" u="none" strike="noStrike" cap="none" normalizeH="0" baseline="0" dirty="0" smtClean="0">
                <a:ln>
                  <a:noFill/>
                </a:ln>
                <a:solidFill>
                  <a:schemeClr val="tx1"/>
                </a:solidFill>
                <a:effectLst/>
              </a:rPr>
              <a:t>Disponibilidad real de plantilla fija, estatus de arribo de transporte y reportes de incidencias físicas en andenes.</a:t>
            </a:r>
          </a:p>
          <a:p>
            <a:pPr marL="0" lvl="0" indent="0" eaLnBrk="0" fontAlgn="base" hangingPunct="0">
              <a:lnSpc>
                <a:spcPct val="100000"/>
              </a:lnSpc>
              <a:spcBef>
                <a:spcPct val="0"/>
              </a:spcBef>
              <a:spcAft>
                <a:spcPct val="0"/>
              </a:spcAft>
              <a:buNone/>
            </a:pPr>
            <a:endParaRPr kumimoji="0" lang="es-MX" altLang="es-MX" sz="1400" b="0" i="0" u="none" strike="noStrike" cap="none" normalizeH="0" baseline="0" dirty="0" smtClean="0">
              <a:ln>
                <a:noFill/>
              </a:ln>
              <a:solidFill>
                <a:schemeClr val="tx1"/>
              </a:solidFill>
              <a:effectLst/>
            </a:endParaRPr>
          </a:p>
          <a:p>
            <a:pPr marL="0" indent="0">
              <a:buNone/>
            </a:pPr>
            <a:r>
              <a:rPr lang="es-ES" b="1" dirty="0" smtClean="0"/>
              <a:t>7. Aprendizajes y mejora continua</a:t>
            </a:r>
          </a:p>
          <a:p>
            <a:pPr marL="0" indent="0">
              <a:buNone/>
            </a:pPr>
            <a:endParaRPr lang="es-ES" b="1" dirty="0" smtClean="0"/>
          </a:p>
          <a:p>
            <a:r>
              <a:rPr lang="es-ES" sz="1800" b="1" dirty="0" smtClean="0"/>
              <a:t>¿Qué aprendizaje deja este evento al equipo de Operaciones para la planificación de futuras semanas?</a:t>
            </a:r>
          </a:p>
          <a:p>
            <a:pPr marL="0" indent="0">
              <a:buNone/>
            </a:pPr>
            <a:r>
              <a:rPr lang="es-ES" sz="1500" dirty="0" smtClean="0"/>
              <a:t>La confirmación de que la operación es altamente sensible a las variaciones de volumen no previstas, ocupe una platilla fija basada en medianas se debe contemplar un colchón operativo o un acuerdo de flexibilidad con proveedores para absorber picos de hasta +14% sin poner en riesgo el servicio.</a:t>
            </a:r>
          </a:p>
          <a:p>
            <a:r>
              <a:rPr lang="es-ES" sz="1800" b="1" dirty="0" smtClean="0"/>
              <a:t>¿Qué cambiarías en el proceso de planificación semanal para anticipar mejor los desvíos en los tres procesos?</a:t>
            </a:r>
          </a:p>
          <a:p>
            <a:pPr marL="0" indent="0">
              <a:buNone/>
            </a:pPr>
            <a:r>
              <a:rPr lang="es-ES" sz="1500" dirty="0" smtClean="0"/>
              <a:t>Incorporar de manera nativa la segmentación por tipo de envío (</a:t>
            </a:r>
            <a:r>
              <a:rPr lang="es-ES" sz="1500" i="1" dirty="0" smtClean="0"/>
              <a:t>Small</a:t>
            </a:r>
            <a:r>
              <a:rPr lang="es-ES" sz="1500" dirty="0" smtClean="0"/>
              <a:t> vs. </a:t>
            </a:r>
            <a:r>
              <a:rPr lang="es-ES" sz="1500" i="1" dirty="0" smtClean="0"/>
              <a:t>Heavy</a:t>
            </a:r>
            <a:r>
              <a:rPr lang="es-ES" sz="1500" dirty="0" smtClean="0"/>
              <a:t>) y estacionalidad horaria en los modelos predictivos, permitiendo anticipar los cuellos de botella específicos en </a:t>
            </a:r>
            <a:r>
              <a:rPr lang="es-ES" sz="1500" i="1" dirty="0" smtClean="0"/>
              <a:t>Conexión IN</a:t>
            </a:r>
            <a:r>
              <a:rPr lang="es-ES" sz="1500" dirty="0" smtClean="0"/>
              <a:t>, </a:t>
            </a:r>
            <a:r>
              <a:rPr lang="es-ES" sz="1500" i="1" dirty="0" smtClean="0"/>
              <a:t>Conexión OUT</a:t>
            </a:r>
            <a:r>
              <a:rPr lang="es-ES" sz="1500" dirty="0" smtClean="0"/>
              <a:t> y </a:t>
            </a:r>
            <a:r>
              <a:rPr lang="es-ES" sz="1500" i="1" dirty="0" err="1" smtClean="0"/>
              <a:t>Sorting</a:t>
            </a:r>
            <a:r>
              <a:rPr lang="es-ES" sz="1500" dirty="0" smtClean="0"/>
              <a:t> antes de que la operación sufra el impacto</a:t>
            </a:r>
            <a:r>
              <a:rPr lang="es-ES" sz="1500" b="1" dirty="0" smtClean="0"/>
              <a:t>.</a:t>
            </a:r>
          </a:p>
          <a:p>
            <a:r>
              <a:rPr lang="es-ES" sz="1800" b="1" dirty="0" smtClean="0"/>
              <a:t>¿Cómo harías para robustecer el flujo </a:t>
            </a:r>
            <a:r>
              <a:rPr lang="es-ES" sz="1800" b="1" dirty="0" err="1" smtClean="0"/>
              <a:t>end</a:t>
            </a:r>
            <a:r>
              <a:rPr lang="es-ES" sz="1800" b="1" dirty="0" smtClean="0"/>
              <a:t> to </a:t>
            </a:r>
            <a:r>
              <a:rPr lang="es-ES" sz="1800" b="1" dirty="0" err="1" smtClean="0"/>
              <a:t>end</a:t>
            </a:r>
            <a:r>
              <a:rPr lang="es-ES" sz="1800" b="1" dirty="0" smtClean="0"/>
              <a:t>?</a:t>
            </a:r>
          </a:p>
          <a:p>
            <a:pPr marL="0" indent="0">
              <a:buNone/>
            </a:pPr>
            <a:r>
              <a:rPr lang="es-ES" sz="1500" dirty="0" smtClean="0"/>
              <a:t>Automatizando la integración de los datos de </a:t>
            </a:r>
            <a:r>
              <a:rPr lang="es-ES" sz="1500" dirty="0" err="1" smtClean="0"/>
              <a:t>forecast</a:t>
            </a:r>
            <a:r>
              <a:rPr lang="es-ES" sz="1500" dirty="0" smtClean="0"/>
              <a:t> directamente en los tableros de control para que la activación de alertas de personal temporal ocurra de forma preventiva y no reactiva, uniendo la planeación analítica con la ejecución diaria en piso.</a:t>
            </a:r>
          </a:p>
          <a:p>
            <a:endParaRPr lang="es-MX" sz="1800" dirty="0"/>
          </a:p>
        </p:txBody>
      </p:sp>
    </p:spTree>
    <p:extLst>
      <p:ext uri="{BB962C8B-B14F-4D97-AF65-F5344CB8AC3E}">
        <p14:creationId xmlns:p14="http://schemas.microsoft.com/office/powerpoint/2010/main" val="354928731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TotalTime>
  <Words>2184</Words>
  <Application>Microsoft Office PowerPoint</Application>
  <PresentationFormat>Panorámica</PresentationFormat>
  <Paragraphs>830</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Work Sample</vt:lpstr>
      <vt:lpstr>1. Dimensionamiento del HC – Inbound</vt:lpstr>
      <vt:lpstr>Presentación de PowerPoint</vt:lpstr>
      <vt:lpstr>2. Dimensionamiento del HC – Outbound</vt:lpstr>
      <vt:lpstr>Presentación de PowerPoint</vt:lpstr>
      <vt:lpstr>3. Dimensionamiento del HC – Sorting </vt:lpstr>
      <vt:lpstr>Presentación de PowerPoint</vt:lpstr>
      <vt:lpstr>4. Decisión sobre Diaristas (Maniobras)</vt:lpstr>
      <vt:lpstr>Presentación de PowerPoint</vt:lpstr>
      <vt:lpstr>5. Gestion del desvio de +14%</vt:lpstr>
      <vt:lpstr>6. Comunicacion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Sample</dc:title>
  <dc:creator>kelly poceros</dc:creator>
  <cp:lastModifiedBy>kelly poceros</cp:lastModifiedBy>
  <cp:revision>16</cp:revision>
  <dcterms:created xsi:type="dcterms:W3CDTF">2026-08-02T15:27:43Z</dcterms:created>
  <dcterms:modified xsi:type="dcterms:W3CDTF">2026-08-02T20:40:52Z</dcterms:modified>
</cp:coreProperties>
</file>